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377" r:id="rId2"/>
    <p:sldId id="317" r:id="rId3"/>
    <p:sldId id="316" r:id="rId4"/>
    <p:sldId id="376" r:id="rId5"/>
    <p:sldId id="357" r:id="rId6"/>
    <p:sldId id="375" r:id="rId7"/>
    <p:sldId id="256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8F7"/>
    <a:srgbClr val="FF4500"/>
    <a:srgbClr val="FBFBF5"/>
    <a:srgbClr val="FDFFFA"/>
    <a:srgbClr val="0071BD"/>
    <a:srgbClr val="DEF1F8"/>
    <a:srgbClr val="D7EEF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558A4-45CA-44A6-8746-77DBA4575E91}" v="2" dt="2026-03-22T16:27:23.778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025" autoAdjust="0"/>
  </p:normalViewPr>
  <p:slideViewPr>
    <p:cSldViewPr snapToGrid="0">
      <p:cViewPr varScale="1">
        <p:scale>
          <a:sx n="95" d="100"/>
          <a:sy n="95" d="100"/>
        </p:scale>
        <p:origin x="42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Vats 24310046" userId="17f4385b-ddea-4b92-a542-28e1260e1145" providerId="ADAL" clId="{D4F80C07-8DFD-49B0-ABC6-604BED760985}"/>
    <pc:docChg chg="undo custSel addSld delSld modSld">
      <pc:chgData name="Prince Vats 24310046" userId="17f4385b-ddea-4b92-a542-28e1260e1145" providerId="ADAL" clId="{D4F80C07-8DFD-49B0-ABC6-604BED760985}" dt="2026-03-22T16:27:24.600" v="9" actId="680"/>
      <pc:docMkLst>
        <pc:docMk/>
      </pc:docMkLst>
      <pc:sldChg chg="addSp modSp new del mod modAnim">
        <pc:chgData name="Prince Vats 24310046" userId="17f4385b-ddea-4b92-a542-28e1260e1145" providerId="ADAL" clId="{D4F80C07-8DFD-49B0-ABC6-604BED760985}" dt="2026-03-22T16:27:24.600" v="9" actId="680"/>
        <pc:sldMkLst>
          <pc:docMk/>
          <pc:sldMk cId="721651446" sldId="321"/>
        </pc:sldMkLst>
        <pc:picChg chg="add mod">
          <ac:chgData name="Prince Vats 24310046" userId="17f4385b-ddea-4b92-a542-28e1260e1145" providerId="ADAL" clId="{D4F80C07-8DFD-49B0-ABC6-604BED760985}" dt="2026-03-22T16:27:23.221" v="7" actId="1076"/>
          <ac:picMkLst>
            <pc:docMk/>
            <pc:sldMk cId="721651446" sldId="321"/>
            <ac:picMk id="6" creationId="{6DB56641-73C6-86B7-6164-EAEC3F5245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E0C0-46EB-436E-8C0C-54A2B6360B7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FDEC4-EED7-44A7-B9C2-EC0F05229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42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EE88-6794-F7B7-9226-A7B102A6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C9425-BEF7-71F9-BFFA-A439C5AEC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F7C9F-16D5-1A67-88F1-3D7E74B63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dirty="0"/>
              <a:t>Choice of Hardware</a:t>
            </a:r>
          </a:p>
          <a:p>
            <a:pPr lvl="1"/>
            <a:r>
              <a:rPr lang="en-GB" sz="1400" b="1" dirty="0"/>
              <a:t>Sensors:</a:t>
            </a:r>
            <a:r>
              <a:rPr lang="en-GB" sz="1400" dirty="0"/>
              <a:t> Multiple sensor types were tested; final selection based on best stability and accuracy.</a:t>
            </a:r>
          </a:p>
          <a:p>
            <a:pPr lvl="1"/>
            <a:r>
              <a:rPr lang="en-GB" sz="1400" b="1" dirty="0"/>
              <a:t>Microcontroller:</a:t>
            </a:r>
            <a:r>
              <a:rPr lang="en-GB" sz="1400" dirty="0"/>
              <a:t> </a:t>
            </a:r>
            <a:r>
              <a:rPr lang="en-GB" sz="1400" i="1" dirty="0"/>
              <a:t>ESP32</a:t>
            </a:r>
            <a:r>
              <a:rPr lang="en-GB" sz="1400" dirty="0"/>
              <a:t> chosen for sufficient GPIO pins, dual cores, strong processing power, and proven long-term reliability.</a:t>
            </a:r>
          </a:p>
          <a:p>
            <a:pPr lvl="1"/>
            <a:r>
              <a:rPr lang="en-GB" sz="1400" b="1" dirty="0"/>
              <a:t>Power Components:</a:t>
            </a:r>
            <a:r>
              <a:rPr lang="en-GB" sz="1400" dirty="0"/>
              <a:t> Buck converter, UPS units, and power adapters selected based on overall system power requirements for stable operation.</a:t>
            </a:r>
          </a:p>
          <a:p>
            <a:r>
              <a:rPr lang="en-GB" sz="1600" b="1" dirty="0"/>
              <a:t>Data Handling</a:t>
            </a:r>
          </a:p>
          <a:p>
            <a:pPr lvl="1"/>
            <a:r>
              <a:rPr lang="en-GB" sz="1400" dirty="0"/>
              <a:t>Real-time data transmission to the server and </a:t>
            </a:r>
            <a:r>
              <a:rPr lang="en-GB" sz="1400" b="1" dirty="0"/>
              <a:t>local edge storage</a:t>
            </a:r>
            <a:r>
              <a:rPr lang="en-GB" sz="1400" dirty="0"/>
              <a:t> for redundancy.</a:t>
            </a:r>
          </a:p>
          <a:p>
            <a:pPr lvl="1"/>
            <a:r>
              <a:rPr lang="en-GB" sz="1400" b="1" dirty="0"/>
              <a:t>Offline reliability:</a:t>
            </a:r>
            <a:r>
              <a:rPr lang="en-GB" sz="1400" dirty="0"/>
              <a:t> If the internet fails, unsent data is stored locally and automatically synced when connectivity returns.</a:t>
            </a:r>
          </a:p>
          <a:p>
            <a:pPr lvl="1"/>
            <a:r>
              <a:rPr lang="en-GB" sz="1400" b="1" dirty="0"/>
              <a:t>Database reliability:</a:t>
            </a:r>
            <a:r>
              <a:rPr lang="en-GB" sz="1400" dirty="0"/>
              <a:t> Data stored in </a:t>
            </a:r>
            <a:r>
              <a:rPr lang="en-GB" sz="1400" b="1" dirty="0"/>
              <a:t>MongoDB (NoSQL)</a:t>
            </a:r>
            <a:r>
              <a:rPr lang="en-GB" sz="1400" dirty="0"/>
              <a:t> using flexible BSON format; </a:t>
            </a:r>
            <a:r>
              <a:rPr lang="en-GB" sz="1400" b="1" dirty="0"/>
              <a:t>hourly backups</a:t>
            </a:r>
            <a:r>
              <a:rPr lang="en-GB" sz="1400" dirty="0"/>
              <a:t> ensure data safety.</a:t>
            </a:r>
          </a:p>
          <a:p>
            <a:pPr lvl="1"/>
            <a:r>
              <a:rPr lang="en-GB" sz="1400" b="1" dirty="0"/>
              <a:t>Device monitoring:</a:t>
            </a:r>
            <a:r>
              <a:rPr lang="en-GB" sz="1400" dirty="0"/>
              <a:t> Continuous network status check (online/offline monitoring).</a:t>
            </a:r>
          </a:p>
          <a:p>
            <a:r>
              <a:rPr lang="en-GB" sz="1600" b="1" dirty="0"/>
              <a:t>Geometry of Device</a:t>
            </a:r>
          </a:p>
          <a:p>
            <a:pPr lvl="1"/>
            <a:r>
              <a:rPr lang="en-GB" sz="1400" dirty="0"/>
              <a:t>Validated correlation between </a:t>
            </a:r>
            <a:r>
              <a:rPr lang="en-GB" sz="1400" b="1" dirty="0"/>
              <a:t>exposed and enclosed sensors</a:t>
            </a:r>
            <a:r>
              <a:rPr lang="en-GB" sz="1400" dirty="0"/>
              <a:t> using custom </a:t>
            </a:r>
            <a:r>
              <a:rPr lang="en-GB" sz="1400" b="1" dirty="0"/>
              <a:t>IP65 housing</a:t>
            </a:r>
            <a:r>
              <a:rPr lang="en-GB" sz="1400" dirty="0"/>
              <a:t>.</a:t>
            </a:r>
          </a:p>
          <a:p>
            <a:pPr lvl="1"/>
            <a:r>
              <a:rPr lang="en-GB" sz="1400" dirty="0"/>
              <a:t>Proper </a:t>
            </a:r>
            <a:r>
              <a:rPr lang="en-GB" sz="1400" b="1" dirty="0"/>
              <a:t>air channel design</a:t>
            </a:r>
            <a:r>
              <a:rPr lang="en-GB" sz="1400" dirty="0"/>
              <a:t> and </a:t>
            </a:r>
            <a:r>
              <a:rPr lang="en-GB" sz="1400" b="1" dirty="0"/>
              <a:t>negative air pressure</a:t>
            </a:r>
            <a:r>
              <a:rPr lang="en-GB" sz="1400" dirty="0"/>
              <a:t> ensure accurate sampling and minimal particle loss.</a:t>
            </a:r>
          </a:p>
          <a:p>
            <a:pPr lvl="1"/>
            <a:r>
              <a:rPr lang="en-GB" sz="1400" b="1" dirty="0"/>
              <a:t>Air exchange rate</a:t>
            </a:r>
            <a:r>
              <a:rPr lang="en-GB" sz="1400" dirty="0"/>
              <a:t> optimised for reliable readings and minimal pressure loss.</a:t>
            </a:r>
          </a:p>
          <a:p>
            <a:r>
              <a:rPr lang="en-GB" sz="1600" b="1" dirty="0"/>
              <a:t>Colocation and Calibration</a:t>
            </a:r>
          </a:p>
          <a:p>
            <a:pPr lvl="1"/>
            <a:r>
              <a:rPr lang="en-GB" sz="1400" dirty="0"/>
              <a:t>A </a:t>
            </a:r>
            <a:r>
              <a:rPr lang="en-GB" sz="1400" b="1" dirty="0"/>
              <a:t>standardised lab procedure</a:t>
            </a:r>
            <a:r>
              <a:rPr lang="en-GB" sz="1400" dirty="0"/>
              <a:t> developed for consistent calibration across all EQM units.</a:t>
            </a:r>
          </a:p>
          <a:p>
            <a:pPr lvl="1"/>
            <a:r>
              <a:rPr lang="en-GB" sz="1400" dirty="0"/>
              <a:t>Ensures </a:t>
            </a:r>
            <a:r>
              <a:rPr lang="en-GB" sz="1400" b="1" dirty="0"/>
              <a:t>uniform sensor response</a:t>
            </a:r>
            <a:r>
              <a:rPr lang="en-GB" sz="1400" dirty="0"/>
              <a:t> and accuracy across the network.</a:t>
            </a:r>
          </a:p>
          <a:p>
            <a:pPr marL="0" indent="0" algn="ctr">
              <a:buNone/>
            </a:pPr>
            <a:r>
              <a:rPr lang="en-GB" sz="1600" u="sng" dirty="0"/>
              <a:t>A robust, self-reliable system with dependable hardware, fault-tolerant data management, and validated sensing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1DB15-E4AC-4ECC-092F-1A1CA03D6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FDEC4-EED7-44A7-B9C2-EC0F052294F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564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2B54C-F93E-4E2C-8EB7-28711108EC0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86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7251-CAB2-C0E6-4D19-2A6E232E6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D0B11-57DF-097C-8479-DC30A4B45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42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23FA-DC96-7FEC-ECBD-21E7555F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AFB0-1BF1-4D45-807A-B32AEE1E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6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B9971-BBE7-F01C-DBD9-4D81BD4F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7766-9A55-4818-A1E7-0090945041D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C740B-7539-F5B7-71E9-4766E70A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1AB2-B069-B0E3-A156-28EE9E09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815E-F3DF-45C5-8714-59E7E5049E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9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F821-B12A-DF0D-F4D5-74DE23CA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E2468-E376-39FA-3F20-82D13DC7F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FECB6-CF5A-AE2A-35B5-69400FC12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BE2A1-42F6-3D82-A270-E594C925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7766-9A55-4818-A1E7-0090945041D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B2648-86D4-10EC-80E8-CDDD86B1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9F6DA-4ED8-D084-1A8C-EC1E5DE7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815E-F3DF-45C5-8714-59E7E5049E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03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0B7AEE-603E-E296-8A2C-294971D91376}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2F31A7-156A-8007-1BA2-3AC68E4B8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9C7AC-DAE4-2411-A2BE-924C70A42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60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FD77A-49BE-75F3-9ED9-2B3565E06F7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6325465"/>
            <a:ext cx="1851544" cy="5166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A3284A-916F-D343-C637-02A9AEE6F08D}"/>
              </a:ext>
            </a:extLst>
          </p:cNvPr>
          <p:cNvSpPr/>
          <p:nvPr userDrawn="1"/>
        </p:nvSpPr>
        <p:spPr>
          <a:xfrm>
            <a:off x="3879056" y="6450012"/>
            <a:ext cx="4433887" cy="2667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Partnership Conclave 2026</a:t>
            </a:r>
            <a:endParaRPr lang="en-IN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logo with text and stars&#10;&#10;AI-generated content may be incorrect.">
            <a:extLst>
              <a:ext uri="{FF2B5EF4-FFF2-40B4-BE49-F238E27FC236}">
                <a16:creationId xmlns:a16="http://schemas.microsoft.com/office/drawing/2014/main" id="{02B116CA-32F3-E2FE-D435-D05AF015C8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30" y="6379469"/>
            <a:ext cx="430145" cy="430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3689ED-B8E7-F11E-5605-2C25E661B1A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64" y="6325465"/>
            <a:ext cx="1280106" cy="5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4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FF45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18.png"/><Relationship Id="rId26" Type="http://schemas.openxmlformats.org/officeDocument/2006/relationships/image" Target="../media/image25.jpg"/><Relationship Id="rId3" Type="http://schemas.openxmlformats.org/officeDocument/2006/relationships/image" Target="../media/image6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microsoft.com/office/2007/relationships/hdphoto" Target="../media/hdphoto1.wdp"/><Relationship Id="rId17" Type="http://schemas.openxmlformats.org/officeDocument/2006/relationships/image" Target="../media/image17.png"/><Relationship Id="rId25" Type="http://schemas.microsoft.com/office/2007/relationships/hdphoto" Target="../media/hdphoto4.wdp"/><Relationship Id="rId2" Type="http://schemas.openxmlformats.org/officeDocument/2006/relationships/image" Target="../media/image5.png"/><Relationship Id="rId16" Type="http://schemas.microsoft.com/office/2007/relationships/hdphoto" Target="../media/hdphoto3.wdp"/><Relationship Id="rId20" Type="http://schemas.openxmlformats.org/officeDocument/2006/relationships/image" Target="../media/image20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4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23.png"/><Relationship Id="rId28" Type="http://schemas.openxmlformats.org/officeDocument/2006/relationships/image" Target="../media/image27.jp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31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microsoft.com/office/2007/relationships/hdphoto" Target="../media/hdphoto2.wdp"/><Relationship Id="rId22" Type="http://schemas.openxmlformats.org/officeDocument/2006/relationships/image" Target="../media/image22.svg"/><Relationship Id="rId27" Type="http://schemas.openxmlformats.org/officeDocument/2006/relationships/image" Target="../media/image26.jpeg"/><Relationship Id="rId30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jpeg"/><Relationship Id="rId3" Type="http://schemas.openxmlformats.org/officeDocument/2006/relationships/image" Target="../media/image31.png"/><Relationship Id="rId7" Type="http://schemas.openxmlformats.org/officeDocument/2006/relationships/image" Target="../media/image35.gif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gif"/><Relationship Id="rId5" Type="http://schemas.openxmlformats.org/officeDocument/2006/relationships/image" Target="../media/image33.png"/><Relationship Id="rId15" Type="http://schemas.openxmlformats.org/officeDocument/2006/relationships/image" Target="../media/image43.jpe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gif"/><Relationship Id="rId14" Type="http://schemas.openxmlformats.org/officeDocument/2006/relationships/image" Target="../media/image4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if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emf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hyperlink" Target="https://doi.org/10.1016/J.JOBE.2025.114074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emf"/><Relationship Id="rId5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9AE6DE-4E36-3A78-6ABD-B0683713A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53" b="22062"/>
          <a:stretch>
            <a:fillRect/>
          </a:stretch>
        </p:blipFill>
        <p:spPr>
          <a:xfrm>
            <a:off x="2487135" y="0"/>
            <a:ext cx="7217729" cy="617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6052-ECD8-6A83-1BF8-83DB8348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0063-F194-72A8-7971-480885D2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74711"/>
          </a:xfrm>
        </p:spPr>
        <p:txBody>
          <a:bodyPr>
            <a:normAutofit/>
          </a:bodyPr>
          <a:lstStyle/>
          <a:p>
            <a:pPr algn="ctr"/>
            <a:r>
              <a:rPr lang="en-GB" sz="2400" dirty="0"/>
              <a:t>Development and Deployment of an Integrated Low-Cost Environmental Quality Monitor</a:t>
            </a:r>
            <a:endParaRPr lang="en-IN" sz="2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4CA90F3-BA37-1521-91AA-A3738ADFBBD7}"/>
              </a:ext>
            </a:extLst>
          </p:cNvPr>
          <p:cNvGrpSpPr/>
          <p:nvPr/>
        </p:nvGrpSpPr>
        <p:grpSpPr>
          <a:xfrm>
            <a:off x="541389" y="1134083"/>
            <a:ext cx="4140411" cy="2619797"/>
            <a:chOff x="147792" y="464579"/>
            <a:chExt cx="7250983" cy="4587975"/>
          </a:xfrm>
        </p:grpSpPr>
        <p:pic>
          <p:nvPicPr>
            <p:cNvPr id="76" name="Picture 75" descr="A close-up of a computer chip&#10;&#10;AI-generated content may be incorrect.">
              <a:extLst>
                <a:ext uri="{FF2B5EF4-FFF2-40B4-BE49-F238E27FC236}">
                  <a16:creationId xmlns:a16="http://schemas.microsoft.com/office/drawing/2014/main" id="{6AEEF781-F954-9EE3-25D1-0875E2348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5956" y="2138832"/>
              <a:ext cx="3725183" cy="165619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4385A20-3505-EFE2-B6D2-775C1B2E0733}"/>
                </a:ext>
              </a:extLst>
            </p:cNvPr>
            <p:cNvGrpSpPr/>
            <p:nvPr/>
          </p:nvGrpSpPr>
          <p:grpSpPr>
            <a:xfrm>
              <a:off x="499962" y="2299176"/>
              <a:ext cx="2102295" cy="1026128"/>
              <a:chOff x="4852887" y="2718276"/>
              <a:chExt cx="2102295" cy="1026128"/>
            </a:xfrm>
          </p:grpSpPr>
          <p:sp>
            <p:nvSpPr>
              <p:cNvPr id="95" name="Freeform 11">
                <a:extLst>
                  <a:ext uri="{FF2B5EF4-FFF2-40B4-BE49-F238E27FC236}">
                    <a16:creationId xmlns:a16="http://schemas.microsoft.com/office/drawing/2014/main" id="{673C0BB5-1FF9-E29E-9945-E8B305E45A4A}"/>
                  </a:ext>
                </a:extLst>
              </p:cNvPr>
              <p:cNvSpPr/>
              <p:nvPr/>
            </p:nvSpPr>
            <p:spPr>
              <a:xfrm>
                <a:off x="4852887" y="2891780"/>
                <a:ext cx="1330751" cy="366226"/>
              </a:xfrm>
              <a:custGeom>
                <a:avLst/>
                <a:gdLst/>
                <a:ahLst/>
                <a:cxnLst/>
                <a:rect l="l" t="t" r="r" b="b"/>
                <a:pathLst>
                  <a:path w="947193" h="321136">
                    <a:moveTo>
                      <a:pt x="160568" y="0"/>
                    </a:moveTo>
                    <a:lnTo>
                      <a:pt x="786626" y="0"/>
                    </a:lnTo>
                    <a:cubicBezTo>
                      <a:pt x="829211" y="0"/>
                      <a:pt x="870052" y="16917"/>
                      <a:pt x="900164" y="47029"/>
                    </a:cubicBezTo>
                    <a:cubicBezTo>
                      <a:pt x="930276" y="77142"/>
                      <a:pt x="947193" y="117983"/>
                      <a:pt x="947193" y="160568"/>
                    </a:cubicBezTo>
                    <a:lnTo>
                      <a:pt x="947193" y="160568"/>
                    </a:lnTo>
                    <a:cubicBezTo>
                      <a:pt x="947193" y="203153"/>
                      <a:pt x="930276" y="243994"/>
                      <a:pt x="900164" y="274106"/>
                    </a:cubicBezTo>
                    <a:cubicBezTo>
                      <a:pt x="870052" y="304219"/>
                      <a:pt x="829211" y="321136"/>
                      <a:pt x="786626" y="321136"/>
                    </a:cubicBezTo>
                    <a:lnTo>
                      <a:pt x="160568" y="321136"/>
                    </a:lnTo>
                    <a:cubicBezTo>
                      <a:pt x="117983" y="321136"/>
                      <a:pt x="77142" y="304219"/>
                      <a:pt x="47029" y="274106"/>
                    </a:cubicBezTo>
                    <a:cubicBezTo>
                      <a:pt x="16917" y="243994"/>
                      <a:pt x="0" y="203153"/>
                      <a:pt x="0" y="160568"/>
                    </a:cubicBezTo>
                    <a:lnTo>
                      <a:pt x="0" y="160568"/>
                    </a:lnTo>
                    <a:cubicBezTo>
                      <a:pt x="0" y="117983"/>
                      <a:pt x="16917" y="77142"/>
                      <a:pt x="47029" y="47029"/>
                    </a:cubicBezTo>
                    <a:cubicBezTo>
                      <a:pt x="77142" y="16917"/>
                      <a:pt x="117983" y="0"/>
                      <a:pt x="1605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PM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5DE82F5F-A8FA-F700-53C5-E8692C6DFF61}"/>
                  </a:ext>
                </a:extLst>
              </p:cNvPr>
              <p:cNvSpPr/>
              <p:nvPr/>
            </p:nvSpPr>
            <p:spPr>
              <a:xfrm>
                <a:off x="5687473" y="2718276"/>
                <a:ext cx="1267709" cy="1026128"/>
              </a:xfrm>
              <a:custGeom>
                <a:avLst/>
                <a:gdLst/>
                <a:ahLst/>
                <a:cxnLst/>
                <a:rect l="l" t="t" r="r" b="b"/>
                <a:pathLst>
                  <a:path w="1275759" h="958250">
                    <a:moveTo>
                      <a:pt x="0" y="0"/>
                    </a:moveTo>
                    <a:lnTo>
                      <a:pt x="1275759" y="0"/>
                    </a:lnTo>
                    <a:lnTo>
                      <a:pt x="1275759" y="958249"/>
                    </a:lnTo>
                    <a:lnTo>
                      <a:pt x="0" y="9582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A39C2B-C954-BAB4-F9AD-1611B62587DA}"/>
                </a:ext>
              </a:extLst>
            </p:cNvPr>
            <p:cNvGrpSpPr/>
            <p:nvPr/>
          </p:nvGrpSpPr>
          <p:grpSpPr>
            <a:xfrm>
              <a:off x="2560337" y="1205134"/>
              <a:ext cx="1615396" cy="645424"/>
              <a:chOff x="6913262" y="1624234"/>
              <a:chExt cx="1615396" cy="645424"/>
            </a:xfrm>
          </p:grpSpPr>
          <p:sp>
            <p:nvSpPr>
              <p:cNvPr id="79" name="Freeform 54">
                <a:extLst>
                  <a:ext uri="{FF2B5EF4-FFF2-40B4-BE49-F238E27FC236}">
                    <a16:creationId xmlns:a16="http://schemas.microsoft.com/office/drawing/2014/main" id="{8D2887C1-37AF-9E90-9A57-C041A712F8CC}"/>
                  </a:ext>
                </a:extLst>
              </p:cNvPr>
              <p:cNvSpPr/>
              <p:nvPr/>
            </p:nvSpPr>
            <p:spPr>
              <a:xfrm>
                <a:off x="6913262" y="1738925"/>
                <a:ext cx="1326889" cy="530733"/>
              </a:xfrm>
              <a:custGeom>
                <a:avLst/>
                <a:gdLst/>
                <a:ahLst/>
                <a:cxnLst/>
                <a:rect l="l" t="t" r="r" b="b"/>
                <a:pathLst>
                  <a:path w="947193" h="307882">
                    <a:moveTo>
                      <a:pt x="153941" y="0"/>
                    </a:moveTo>
                    <a:lnTo>
                      <a:pt x="793253" y="0"/>
                    </a:lnTo>
                    <a:cubicBezTo>
                      <a:pt x="834080" y="0"/>
                      <a:pt x="873236" y="16219"/>
                      <a:pt x="902105" y="45088"/>
                    </a:cubicBezTo>
                    <a:cubicBezTo>
                      <a:pt x="930975" y="73958"/>
                      <a:pt x="947193" y="113113"/>
                      <a:pt x="947193" y="153941"/>
                    </a:cubicBezTo>
                    <a:lnTo>
                      <a:pt x="947193" y="153941"/>
                    </a:lnTo>
                    <a:cubicBezTo>
                      <a:pt x="947193" y="238960"/>
                      <a:pt x="878272" y="307882"/>
                      <a:pt x="793253" y="307882"/>
                    </a:cubicBezTo>
                    <a:lnTo>
                      <a:pt x="153941" y="307882"/>
                    </a:lnTo>
                    <a:cubicBezTo>
                      <a:pt x="113113" y="307882"/>
                      <a:pt x="73958" y="291663"/>
                      <a:pt x="45088" y="262793"/>
                    </a:cubicBezTo>
                    <a:cubicBezTo>
                      <a:pt x="16219" y="233924"/>
                      <a:pt x="0" y="194768"/>
                      <a:pt x="0" y="153941"/>
                    </a:cubicBezTo>
                    <a:lnTo>
                      <a:pt x="0" y="153941"/>
                    </a:lnTo>
                    <a:cubicBezTo>
                      <a:pt x="0" y="113113"/>
                      <a:pt x="16219" y="73958"/>
                      <a:pt x="45088" y="45088"/>
                    </a:cubicBezTo>
                    <a:cubicBezTo>
                      <a:pt x="73958" y="16219"/>
                      <a:pt x="113113" y="0"/>
                      <a:pt x="1539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>
                  <a:lnSpc>
                    <a:spcPct val="150000"/>
                  </a:lnSpc>
                </a:pPr>
                <a:r>
                  <a:rPr lang="en-US" sz="1000" b="1" spc="135" dirty="0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CO</a:t>
                </a:r>
                <a:r>
                  <a:rPr lang="en-US" sz="1000" b="1" spc="135" baseline="-25000" dirty="0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2</a:t>
                </a:r>
              </a:p>
            </p:txBody>
          </p:sp>
          <p:sp>
            <p:nvSpPr>
              <p:cNvPr id="66" name="Freeform 56">
                <a:extLst>
                  <a:ext uri="{FF2B5EF4-FFF2-40B4-BE49-F238E27FC236}">
                    <a16:creationId xmlns:a16="http://schemas.microsoft.com/office/drawing/2014/main" id="{5EE6FA28-CD08-6BDA-8382-924004F5A066}"/>
                  </a:ext>
                </a:extLst>
              </p:cNvPr>
              <p:cNvSpPr/>
              <p:nvPr/>
            </p:nvSpPr>
            <p:spPr>
              <a:xfrm>
                <a:off x="7828373" y="1624234"/>
                <a:ext cx="700285" cy="566415"/>
              </a:xfrm>
              <a:custGeom>
                <a:avLst/>
                <a:gdLst/>
                <a:ahLst/>
                <a:cxnLst/>
                <a:rect l="l" t="t" r="r" b="b"/>
                <a:pathLst>
                  <a:path w="955863" h="788302">
                    <a:moveTo>
                      <a:pt x="0" y="0"/>
                    </a:moveTo>
                    <a:lnTo>
                      <a:pt x="955863" y="0"/>
                    </a:lnTo>
                    <a:lnTo>
                      <a:pt x="955863" y="788302"/>
                    </a:lnTo>
                    <a:lnTo>
                      <a:pt x="0" y="78830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34364" t="-56972" r="-42780" b="-57826"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12B1218-35A5-EA1B-C55B-857E76749584}"/>
                </a:ext>
              </a:extLst>
            </p:cNvPr>
            <p:cNvGrpSpPr/>
            <p:nvPr/>
          </p:nvGrpSpPr>
          <p:grpSpPr>
            <a:xfrm>
              <a:off x="4605338" y="3686288"/>
              <a:ext cx="2763755" cy="1337670"/>
              <a:chOff x="8958263" y="4105388"/>
              <a:chExt cx="2763755" cy="1337670"/>
            </a:xfrm>
          </p:grpSpPr>
          <p:sp>
            <p:nvSpPr>
              <p:cNvPr id="82" name="Freeform 47">
                <a:extLst>
                  <a:ext uri="{FF2B5EF4-FFF2-40B4-BE49-F238E27FC236}">
                    <a16:creationId xmlns:a16="http://schemas.microsoft.com/office/drawing/2014/main" id="{74CAB4AD-87E1-A6E4-6600-4DE8A4DC3150}"/>
                  </a:ext>
                </a:extLst>
              </p:cNvPr>
              <p:cNvSpPr/>
              <p:nvPr/>
            </p:nvSpPr>
            <p:spPr>
              <a:xfrm>
                <a:off x="8958263" y="4243833"/>
                <a:ext cx="2087869" cy="397229"/>
              </a:xfrm>
              <a:custGeom>
                <a:avLst/>
                <a:gdLst/>
                <a:ahLst/>
                <a:cxnLst/>
                <a:rect l="l" t="t" r="r" b="b"/>
                <a:pathLst>
                  <a:path w="795631" h="212300">
                    <a:moveTo>
                      <a:pt x="106150" y="0"/>
                    </a:moveTo>
                    <a:lnTo>
                      <a:pt x="689481" y="0"/>
                    </a:lnTo>
                    <a:cubicBezTo>
                      <a:pt x="748106" y="0"/>
                      <a:pt x="795631" y="47525"/>
                      <a:pt x="795631" y="106150"/>
                    </a:cubicBezTo>
                    <a:lnTo>
                      <a:pt x="795631" y="106150"/>
                    </a:lnTo>
                    <a:cubicBezTo>
                      <a:pt x="795631" y="134303"/>
                      <a:pt x="784448" y="161303"/>
                      <a:pt x="764540" y="181210"/>
                    </a:cubicBezTo>
                    <a:cubicBezTo>
                      <a:pt x="744633" y="201117"/>
                      <a:pt x="717634" y="212300"/>
                      <a:pt x="689481" y="212300"/>
                    </a:cubicBezTo>
                    <a:lnTo>
                      <a:pt x="106150" y="212300"/>
                    </a:lnTo>
                    <a:cubicBezTo>
                      <a:pt x="77997" y="212300"/>
                      <a:pt x="50998" y="201117"/>
                      <a:pt x="31091" y="181210"/>
                    </a:cubicBezTo>
                    <a:cubicBezTo>
                      <a:pt x="11184" y="161303"/>
                      <a:pt x="0" y="134303"/>
                      <a:pt x="0" y="106150"/>
                    </a:cubicBezTo>
                    <a:lnTo>
                      <a:pt x="0" y="106150"/>
                    </a:lnTo>
                    <a:cubicBezTo>
                      <a:pt x="0" y="77997"/>
                      <a:pt x="11184" y="50998"/>
                      <a:pt x="31091" y="31091"/>
                    </a:cubicBezTo>
                    <a:cubicBezTo>
                      <a:pt x="50998" y="11184"/>
                      <a:pt x="77997" y="0"/>
                      <a:pt x="1061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Anemometer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sp>
            <p:nvSpPr>
              <p:cNvPr id="67" name="Freeform 57">
                <a:extLst>
                  <a:ext uri="{FF2B5EF4-FFF2-40B4-BE49-F238E27FC236}">
                    <a16:creationId xmlns:a16="http://schemas.microsoft.com/office/drawing/2014/main" id="{F414983B-8288-F2A2-0E80-6FE0F966385B}"/>
                  </a:ext>
                </a:extLst>
              </p:cNvPr>
              <p:cNvSpPr/>
              <p:nvPr/>
            </p:nvSpPr>
            <p:spPr>
              <a:xfrm>
                <a:off x="10360835" y="4105388"/>
                <a:ext cx="1361183" cy="1337670"/>
              </a:xfrm>
              <a:custGeom>
                <a:avLst/>
                <a:gdLst/>
                <a:ahLst/>
                <a:cxnLst/>
                <a:rect l="l" t="t" r="r" b="b"/>
                <a:pathLst>
                  <a:path w="1223575" h="1226027">
                    <a:moveTo>
                      <a:pt x="0" y="0"/>
                    </a:moveTo>
                    <a:lnTo>
                      <a:pt x="1223575" y="0"/>
                    </a:lnTo>
                    <a:lnTo>
                      <a:pt x="1223575" y="1226027"/>
                    </a:lnTo>
                    <a:lnTo>
                      <a:pt x="0" y="12260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endParaRPr lang="en-IN" sz="300" b="1" dirty="0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41DDFB4-D6EF-C19B-0B06-4D1DEEE38939}"/>
                </a:ext>
              </a:extLst>
            </p:cNvPr>
            <p:cNvGrpSpPr/>
            <p:nvPr/>
          </p:nvGrpSpPr>
          <p:grpSpPr>
            <a:xfrm>
              <a:off x="5900302" y="1557181"/>
              <a:ext cx="1498473" cy="936655"/>
              <a:chOff x="10253227" y="1976281"/>
              <a:chExt cx="1498473" cy="936655"/>
            </a:xfrm>
          </p:grpSpPr>
          <p:sp>
            <p:nvSpPr>
              <p:cNvPr id="87" name="Freeform 34">
                <a:extLst>
                  <a:ext uri="{FF2B5EF4-FFF2-40B4-BE49-F238E27FC236}">
                    <a16:creationId xmlns:a16="http://schemas.microsoft.com/office/drawing/2014/main" id="{335B3AFB-6F2C-E154-00B0-3512EF1216AF}"/>
                  </a:ext>
                </a:extLst>
              </p:cNvPr>
              <p:cNvSpPr/>
              <p:nvPr/>
            </p:nvSpPr>
            <p:spPr>
              <a:xfrm>
                <a:off x="10253227" y="2531033"/>
                <a:ext cx="1498473" cy="381903"/>
              </a:xfrm>
              <a:custGeom>
                <a:avLst/>
                <a:gdLst/>
                <a:ahLst/>
                <a:cxnLst/>
                <a:rect l="l" t="t" r="r" b="b"/>
                <a:pathLst>
                  <a:path w="945619" h="400207">
                    <a:moveTo>
                      <a:pt x="171268" y="0"/>
                    </a:moveTo>
                    <a:lnTo>
                      <a:pt x="774351" y="0"/>
                    </a:lnTo>
                    <a:cubicBezTo>
                      <a:pt x="819774" y="0"/>
                      <a:pt x="863337" y="18044"/>
                      <a:pt x="895456" y="50163"/>
                    </a:cubicBezTo>
                    <a:cubicBezTo>
                      <a:pt x="927575" y="82282"/>
                      <a:pt x="945619" y="125845"/>
                      <a:pt x="945619" y="171268"/>
                    </a:cubicBezTo>
                    <a:lnTo>
                      <a:pt x="945619" y="228939"/>
                    </a:lnTo>
                    <a:cubicBezTo>
                      <a:pt x="945619" y="274362"/>
                      <a:pt x="927575" y="317925"/>
                      <a:pt x="895456" y="350044"/>
                    </a:cubicBezTo>
                    <a:cubicBezTo>
                      <a:pt x="863337" y="382163"/>
                      <a:pt x="819774" y="400207"/>
                      <a:pt x="774351" y="400207"/>
                    </a:cubicBezTo>
                    <a:lnTo>
                      <a:pt x="171268" y="400207"/>
                    </a:lnTo>
                    <a:cubicBezTo>
                      <a:pt x="125845" y="400207"/>
                      <a:pt x="82282" y="382163"/>
                      <a:pt x="50163" y="350044"/>
                    </a:cubicBezTo>
                    <a:cubicBezTo>
                      <a:pt x="18044" y="317925"/>
                      <a:pt x="0" y="274362"/>
                      <a:pt x="0" y="228939"/>
                    </a:cubicBezTo>
                    <a:lnTo>
                      <a:pt x="0" y="171268"/>
                    </a:lnTo>
                    <a:cubicBezTo>
                      <a:pt x="0" y="125845"/>
                      <a:pt x="18044" y="82282"/>
                      <a:pt x="50163" y="50163"/>
                    </a:cubicBezTo>
                    <a:cubicBezTo>
                      <a:pt x="82282" y="18044"/>
                      <a:pt x="125845" y="0"/>
                      <a:pt x="1712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 dirty="0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T, P</a:t>
                </a:r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, RH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sp>
            <p:nvSpPr>
              <p:cNvPr id="68" name="Freeform 58">
                <a:extLst>
                  <a:ext uri="{FF2B5EF4-FFF2-40B4-BE49-F238E27FC236}">
                    <a16:creationId xmlns:a16="http://schemas.microsoft.com/office/drawing/2014/main" id="{FCD72E0F-62A9-203E-3330-A86479CA5497}"/>
                  </a:ext>
                </a:extLst>
              </p:cNvPr>
              <p:cNvSpPr/>
              <p:nvPr/>
            </p:nvSpPr>
            <p:spPr>
              <a:xfrm>
                <a:off x="10635107" y="1976281"/>
                <a:ext cx="849125" cy="605159"/>
              </a:xfrm>
              <a:custGeom>
                <a:avLst/>
                <a:gdLst/>
                <a:ahLst/>
                <a:cxnLst/>
                <a:rect l="l" t="t" r="r" b="b"/>
                <a:pathLst>
                  <a:path w="1159024" h="842224">
                    <a:moveTo>
                      <a:pt x="0" y="0"/>
                    </a:moveTo>
                    <a:lnTo>
                      <a:pt x="1159024" y="0"/>
                    </a:lnTo>
                    <a:lnTo>
                      <a:pt x="1159024" y="842225"/>
                    </a:lnTo>
                    <a:lnTo>
                      <a:pt x="0" y="8422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3F924C1-A823-A6C6-B96C-D8ABC8521049}"/>
                </a:ext>
              </a:extLst>
            </p:cNvPr>
            <p:cNvGrpSpPr/>
            <p:nvPr/>
          </p:nvGrpSpPr>
          <p:grpSpPr>
            <a:xfrm>
              <a:off x="4412424" y="1110761"/>
              <a:ext cx="1481110" cy="822570"/>
              <a:chOff x="8765349" y="1529861"/>
              <a:chExt cx="1481110" cy="822570"/>
            </a:xfrm>
          </p:grpSpPr>
          <p:sp>
            <p:nvSpPr>
              <p:cNvPr id="91" name="Freeform 28">
                <a:extLst>
                  <a:ext uri="{FF2B5EF4-FFF2-40B4-BE49-F238E27FC236}">
                    <a16:creationId xmlns:a16="http://schemas.microsoft.com/office/drawing/2014/main" id="{561F43D5-5D8C-5732-4696-20778A59259C}"/>
                  </a:ext>
                </a:extLst>
              </p:cNvPr>
              <p:cNvSpPr/>
              <p:nvPr/>
            </p:nvSpPr>
            <p:spPr>
              <a:xfrm>
                <a:off x="8765349" y="1911219"/>
                <a:ext cx="1463503" cy="441212"/>
              </a:xfrm>
              <a:custGeom>
                <a:avLst/>
                <a:gdLst/>
                <a:ahLst/>
                <a:cxnLst/>
                <a:rect l="l" t="t" r="r" b="b"/>
                <a:pathLst>
                  <a:path w="947193" h="321136">
                    <a:moveTo>
                      <a:pt x="160568" y="0"/>
                    </a:moveTo>
                    <a:lnTo>
                      <a:pt x="786626" y="0"/>
                    </a:lnTo>
                    <a:cubicBezTo>
                      <a:pt x="829211" y="0"/>
                      <a:pt x="870052" y="16917"/>
                      <a:pt x="900164" y="47029"/>
                    </a:cubicBezTo>
                    <a:cubicBezTo>
                      <a:pt x="930276" y="77142"/>
                      <a:pt x="947193" y="117983"/>
                      <a:pt x="947193" y="160568"/>
                    </a:cubicBezTo>
                    <a:lnTo>
                      <a:pt x="947193" y="160568"/>
                    </a:lnTo>
                    <a:cubicBezTo>
                      <a:pt x="947193" y="203153"/>
                      <a:pt x="930276" y="243994"/>
                      <a:pt x="900164" y="274106"/>
                    </a:cubicBezTo>
                    <a:cubicBezTo>
                      <a:pt x="870052" y="304219"/>
                      <a:pt x="829211" y="321136"/>
                      <a:pt x="786626" y="321136"/>
                    </a:cubicBezTo>
                    <a:lnTo>
                      <a:pt x="160568" y="321136"/>
                    </a:lnTo>
                    <a:cubicBezTo>
                      <a:pt x="117983" y="321136"/>
                      <a:pt x="77142" y="304219"/>
                      <a:pt x="47029" y="274106"/>
                    </a:cubicBezTo>
                    <a:cubicBezTo>
                      <a:pt x="16917" y="243994"/>
                      <a:pt x="0" y="203153"/>
                      <a:pt x="0" y="160568"/>
                    </a:cubicBezTo>
                    <a:lnTo>
                      <a:pt x="0" y="160568"/>
                    </a:lnTo>
                    <a:cubicBezTo>
                      <a:pt x="0" y="117983"/>
                      <a:pt x="16917" y="77142"/>
                      <a:pt x="47029" y="47029"/>
                    </a:cubicBezTo>
                    <a:cubicBezTo>
                      <a:pt x="77142" y="16917"/>
                      <a:pt x="117983" y="0"/>
                      <a:pt x="1605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 dirty="0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Noise</a:t>
                </a:r>
              </a:p>
            </p:txBody>
          </p:sp>
          <p:sp>
            <p:nvSpPr>
              <p:cNvPr id="70" name="Freeform 63">
                <a:extLst>
                  <a:ext uri="{FF2B5EF4-FFF2-40B4-BE49-F238E27FC236}">
                    <a16:creationId xmlns:a16="http://schemas.microsoft.com/office/drawing/2014/main" id="{ED9AFAE0-65BA-1966-63E2-99E740E4873D}"/>
                  </a:ext>
                </a:extLst>
              </p:cNvPr>
              <p:cNvSpPr/>
              <p:nvPr/>
            </p:nvSpPr>
            <p:spPr>
              <a:xfrm rot="72000">
                <a:off x="9710058" y="1529861"/>
                <a:ext cx="536401" cy="547807"/>
              </a:xfrm>
              <a:custGeom>
                <a:avLst/>
                <a:gdLst/>
                <a:ahLst/>
                <a:cxnLst/>
                <a:rect l="l" t="t" r="r" b="b"/>
                <a:pathLst>
                  <a:path w="732167" h="762405">
                    <a:moveTo>
                      <a:pt x="0" y="15009"/>
                    </a:moveTo>
                    <a:lnTo>
                      <a:pt x="716511" y="0"/>
                    </a:lnTo>
                    <a:lnTo>
                      <a:pt x="732167" y="747396"/>
                    </a:lnTo>
                    <a:lnTo>
                      <a:pt x="15656" y="762405"/>
                    </a:lnTo>
                    <a:lnTo>
                      <a:pt x="0" y="15009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5216" t="-9272" r="-6221" b="-5897"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C4C8A80-86F3-4B5F-E633-EECEC70570F2}"/>
                </a:ext>
              </a:extLst>
            </p:cNvPr>
            <p:cNvGrpSpPr/>
            <p:nvPr/>
          </p:nvGrpSpPr>
          <p:grpSpPr>
            <a:xfrm>
              <a:off x="5863879" y="2934316"/>
              <a:ext cx="1532607" cy="640384"/>
              <a:chOff x="10216804" y="3353416"/>
              <a:chExt cx="1532607" cy="640384"/>
            </a:xfrm>
          </p:grpSpPr>
          <p:sp>
            <p:nvSpPr>
              <p:cNvPr id="85" name="Freeform 38">
                <a:extLst>
                  <a:ext uri="{FF2B5EF4-FFF2-40B4-BE49-F238E27FC236}">
                    <a16:creationId xmlns:a16="http://schemas.microsoft.com/office/drawing/2014/main" id="{8E6CB161-57F6-2A78-1592-4B5BB908287A}"/>
                  </a:ext>
                </a:extLst>
              </p:cNvPr>
              <p:cNvSpPr/>
              <p:nvPr/>
            </p:nvSpPr>
            <p:spPr>
              <a:xfrm>
                <a:off x="10216804" y="3353416"/>
                <a:ext cx="1232506" cy="390987"/>
              </a:xfrm>
              <a:custGeom>
                <a:avLst/>
                <a:gdLst/>
                <a:ahLst/>
                <a:cxnLst/>
                <a:rect l="l" t="t" r="r" b="b"/>
                <a:pathLst>
                  <a:path w="879818" h="289852">
                    <a:moveTo>
                      <a:pt x="144926" y="0"/>
                    </a:moveTo>
                    <a:lnTo>
                      <a:pt x="734893" y="0"/>
                    </a:lnTo>
                    <a:cubicBezTo>
                      <a:pt x="814933" y="0"/>
                      <a:pt x="879818" y="64886"/>
                      <a:pt x="879818" y="144926"/>
                    </a:cubicBezTo>
                    <a:lnTo>
                      <a:pt x="879818" y="144926"/>
                    </a:lnTo>
                    <a:cubicBezTo>
                      <a:pt x="879818" y="224966"/>
                      <a:pt x="814933" y="289852"/>
                      <a:pt x="734893" y="289852"/>
                    </a:cubicBezTo>
                    <a:lnTo>
                      <a:pt x="144926" y="289852"/>
                    </a:lnTo>
                    <a:cubicBezTo>
                      <a:pt x="64886" y="289852"/>
                      <a:pt x="0" y="224966"/>
                      <a:pt x="0" y="144926"/>
                    </a:cubicBezTo>
                    <a:lnTo>
                      <a:pt x="0" y="144926"/>
                    </a:lnTo>
                    <a:cubicBezTo>
                      <a:pt x="0" y="64886"/>
                      <a:pt x="64886" y="0"/>
                      <a:pt x="14492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TVOC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sp>
            <p:nvSpPr>
              <p:cNvPr id="71" name="Freeform 64">
                <a:extLst>
                  <a:ext uri="{FF2B5EF4-FFF2-40B4-BE49-F238E27FC236}">
                    <a16:creationId xmlns:a16="http://schemas.microsoft.com/office/drawing/2014/main" id="{9E6546DF-4759-E486-C4DF-9CC508318976}"/>
                  </a:ext>
                </a:extLst>
              </p:cNvPr>
              <p:cNvSpPr/>
              <p:nvPr/>
            </p:nvSpPr>
            <p:spPr>
              <a:xfrm>
                <a:off x="11205051" y="3504736"/>
                <a:ext cx="544360" cy="489064"/>
              </a:xfrm>
              <a:custGeom>
                <a:avLst/>
                <a:gdLst/>
                <a:ahLst/>
                <a:cxnLst/>
                <a:rect l="l" t="t" r="r" b="b"/>
                <a:pathLst>
                  <a:path w="743031" h="680649">
                    <a:moveTo>
                      <a:pt x="0" y="0"/>
                    </a:moveTo>
                    <a:lnTo>
                      <a:pt x="743031" y="0"/>
                    </a:lnTo>
                    <a:lnTo>
                      <a:pt x="743031" y="680649"/>
                    </a:lnTo>
                    <a:lnTo>
                      <a:pt x="0" y="680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28180" t="-32040" r="-25788" b="-36040"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9D2DA8A-8C9A-B077-63D9-48A54D9C7F4E}"/>
                </a:ext>
              </a:extLst>
            </p:cNvPr>
            <p:cNvGrpSpPr/>
            <p:nvPr/>
          </p:nvGrpSpPr>
          <p:grpSpPr>
            <a:xfrm>
              <a:off x="847028" y="1227291"/>
              <a:ext cx="1633279" cy="663042"/>
              <a:chOff x="5199953" y="1646391"/>
              <a:chExt cx="1633279" cy="663042"/>
            </a:xfrm>
          </p:grpSpPr>
          <p:sp>
            <p:nvSpPr>
              <p:cNvPr id="93" name="Freeform 20">
                <a:extLst>
                  <a:ext uri="{FF2B5EF4-FFF2-40B4-BE49-F238E27FC236}">
                    <a16:creationId xmlns:a16="http://schemas.microsoft.com/office/drawing/2014/main" id="{051C346B-0D14-716C-38CB-2BEFA6F4746A}"/>
                  </a:ext>
                </a:extLst>
              </p:cNvPr>
              <p:cNvSpPr/>
              <p:nvPr/>
            </p:nvSpPr>
            <p:spPr>
              <a:xfrm>
                <a:off x="5199953" y="1793327"/>
                <a:ext cx="1326888" cy="516106"/>
              </a:xfrm>
              <a:custGeom>
                <a:avLst/>
                <a:gdLst/>
                <a:ahLst/>
                <a:cxnLst/>
                <a:rect l="l" t="t" r="r" b="b"/>
                <a:pathLst>
                  <a:path w="947193" h="321136">
                    <a:moveTo>
                      <a:pt x="160568" y="0"/>
                    </a:moveTo>
                    <a:lnTo>
                      <a:pt x="786626" y="0"/>
                    </a:lnTo>
                    <a:cubicBezTo>
                      <a:pt x="829211" y="0"/>
                      <a:pt x="870052" y="16917"/>
                      <a:pt x="900164" y="47029"/>
                    </a:cubicBezTo>
                    <a:cubicBezTo>
                      <a:pt x="930276" y="77142"/>
                      <a:pt x="947193" y="117983"/>
                      <a:pt x="947193" y="160568"/>
                    </a:cubicBezTo>
                    <a:lnTo>
                      <a:pt x="947193" y="160568"/>
                    </a:lnTo>
                    <a:cubicBezTo>
                      <a:pt x="947193" y="203153"/>
                      <a:pt x="930276" y="243994"/>
                      <a:pt x="900164" y="274106"/>
                    </a:cubicBezTo>
                    <a:cubicBezTo>
                      <a:pt x="870052" y="304219"/>
                      <a:pt x="829211" y="321136"/>
                      <a:pt x="786626" y="321136"/>
                    </a:cubicBezTo>
                    <a:lnTo>
                      <a:pt x="160568" y="321136"/>
                    </a:lnTo>
                    <a:cubicBezTo>
                      <a:pt x="117983" y="321136"/>
                      <a:pt x="77142" y="304219"/>
                      <a:pt x="47029" y="274106"/>
                    </a:cubicBezTo>
                    <a:cubicBezTo>
                      <a:pt x="16917" y="243994"/>
                      <a:pt x="0" y="203153"/>
                      <a:pt x="0" y="160568"/>
                    </a:cubicBezTo>
                    <a:lnTo>
                      <a:pt x="0" y="160568"/>
                    </a:lnTo>
                    <a:cubicBezTo>
                      <a:pt x="0" y="117983"/>
                      <a:pt x="16917" y="77142"/>
                      <a:pt x="47029" y="47029"/>
                    </a:cubicBezTo>
                    <a:cubicBezTo>
                      <a:pt x="77142" y="16917"/>
                      <a:pt x="117983" y="0"/>
                      <a:pt x="1605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>
                  <a:lnSpc>
                    <a:spcPct val="150000"/>
                  </a:lnSpc>
                </a:pPr>
                <a:r>
                  <a:rPr lang="en-US" sz="1000" b="1" spc="135" dirty="0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CO</a:t>
                </a:r>
              </a:p>
            </p:txBody>
          </p:sp>
          <p:sp>
            <p:nvSpPr>
              <p:cNvPr id="72" name="Freeform 65">
                <a:extLst>
                  <a:ext uri="{FF2B5EF4-FFF2-40B4-BE49-F238E27FC236}">
                    <a16:creationId xmlns:a16="http://schemas.microsoft.com/office/drawing/2014/main" id="{C2FC8465-D22F-F333-9CB8-A6DBDDBEA717}"/>
                  </a:ext>
                </a:extLst>
              </p:cNvPr>
              <p:cNvSpPr/>
              <p:nvPr/>
            </p:nvSpPr>
            <p:spPr>
              <a:xfrm rot="30000">
                <a:off x="6134828" y="1646391"/>
                <a:ext cx="698404" cy="510030"/>
              </a:xfrm>
              <a:custGeom>
                <a:avLst/>
                <a:gdLst/>
                <a:ahLst/>
                <a:cxnLst/>
                <a:rect l="l" t="t" r="r" b="b"/>
                <a:pathLst>
                  <a:path w="1136657" h="849269">
                    <a:moveTo>
                      <a:pt x="0" y="9856"/>
                    </a:moveTo>
                    <a:lnTo>
                      <a:pt x="1129332" y="0"/>
                    </a:lnTo>
                    <a:lnTo>
                      <a:pt x="1136658" y="839414"/>
                    </a:lnTo>
                    <a:lnTo>
                      <a:pt x="7326" y="849270"/>
                    </a:lnTo>
                    <a:lnTo>
                      <a:pt x="0" y="9856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44304" t="-83707" r="-49960" b="-76295"/>
                </a:stretch>
              </a:blipFill>
            </p:spPr>
            <p:txBody>
              <a:bodyPr/>
              <a:lstStyle/>
              <a:p>
                <a:endParaRPr lang="en-IN" sz="300" b="1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1648268-64B7-5E26-3756-E0F7A1A8AFCC}"/>
                </a:ext>
              </a:extLst>
            </p:cNvPr>
            <p:cNvGrpSpPr/>
            <p:nvPr/>
          </p:nvGrpSpPr>
          <p:grpSpPr>
            <a:xfrm>
              <a:off x="1640992" y="3936003"/>
              <a:ext cx="1791423" cy="731641"/>
              <a:chOff x="5993917" y="4355103"/>
              <a:chExt cx="1791423" cy="731641"/>
            </a:xfrm>
          </p:grpSpPr>
          <p:sp>
            <p:nvSpPr>
              <p:cNvPr id="83" name="Freeform 43">
                <a:extLst>
                  <a:ext uri="{FF2B5EF4-FFF2-40B4-BE49-F238E27FC236}">
                    <a16:creationId xmlns:a16="http://schemas.microsoft.com/office/drawing/2014/main" id="{34DC0FBA-96FE-DB9E-7E23-3E9738143A9E}"/>
                  </a:ext>
                </a:extLst>
              </p:cNvPr>
              <p:cNvSpPr/>
              <p:nvPr/>
            </p:nvSpPr>
            <p:spPr>
              <a:xfrm>
                <a:off x="5993917" y="4671516"/>
                <a:ext cx="1262222" cy="415228"/>
              </a:xfrm>
              <a:custGeom>
                <a:avLst/>
                <a:gdLst/>
                <a:ahLst/>
                <a:cxnLst/>
                <a:rect l="l" t="t" r="r" b="b"/>
                <a:pathLst>
                  <a:path w="795631" h="202372">
                    <a:moveTo>
                      <a:pt x="101186" y="0"/>
                    </a:moveTo>
                    <a:lnTo>
                      <a:pt x="694445" y="0"/>
                    </a:lnTo>
                    <a:cubicBezTo>
                      <a:pt x="750329" y="0"/>
                      <a:pt x="795631" y="45303"/>
                      <a:pt x="795631" y="101186"/>
                    </a:cubicBezTo>
                    <a:lnTo>
                      <a:pt x="795631" y="101186"/>
                    </a:lnTo>
                    <a:cubicBezTo>
                      <a:pt x="795631" y="128022"/>
                      <a:pt x="784971" y="153759"/>
                      <a:pt x="765994" y="172735"/>
                    </a:cubicBezTo>
                    <a:cubicBezTo>
                      <a:pt x="747018" y="191712"/>
                      <a:pt x="721281" y="202372"/>
                      <a:pt x="694445" y="202372"/>
                    </a:cubicBezTo>
                    <a:lnTo>
                      <a:pt x="101186" y="202372"/>
                    </a:lnTo>
                    <a:cubicBezTo>
                      <a:pt x="74350" y="202372"/>
                      <a:pt x="48613" y="191712"/>
                      <a:pt x="29637" y="172735"/>
                    </a:cubicBezTo>
                    <a:cubicBezTo>
                      <a:pt x="10661" y="153759"/>
                      <a:pt x="0" y="128022"/>
                      <a:pt x="0" y="101186"/>
                    </a:cubicBezTo>
                    <a:lnTo>
                      <a:pt x="0" y="101186"/>
                    </a:lnTo>
                    <a:cubicBezTo>
                      <a:pt x="0" y="74350"/>
                      <a:pt x="10661" y="48613"/>
                      <a:pt x="29637" y="29637"/>
                    </a:cubicBezTo>
                    <a:cubicBezTo>
                      <a:pt x="48613" y="10661"/>
                      <a:pt x="74350" y="0"/>
                      <a:pt x="1011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SD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sp>
            <p:nvSpPr>
              <p:cNvPr id="73" name="Freeform 68">
                <a:extLst>
                  <a:ext uri="{FF2B5EF4-FFF2-40B4-BE49-F238E27FC236}">
                    <a16:creationId xmlns:a16="http://schemas.microsoft.com/office/drawing/2014/main" id="{C902D91F-A282-092F-5B9B-CE3B819C9E95}"/>
                  </a:ext>
                </a:extLst>
              </p:cNvPr>
              <p:cNvSpPr/>
              <p:nvPr/>
            </p:nvSpPr>
            <p:spPr>
              <a:xfrm>
                <a:off x="7011005" y="4355103"/>
                <a:ext cx="774335" cy="555338"/>
              </a:xfrm>
              <a:custGeom>
                <a:avLst/>
                <a:gdLst/>
                <a:ahLst/>
                <a:cxnLst/>
                <a:rect l="l" t="t" r="r" b="b"/>
                <a:pathLst>
                  <a:path w="1056938" h="772886">
                    <a:moveTo>
                      <a:pt x="0" y="0"/>
                    </a:moveTo>
                    <a:lnTo>
                      <a:pt x="1056938" y="0"/>
                    </a:lnTo>
                    <a:lnTo>
                      <a:pt x="1056938" y="772886"/>
                    </a:lnTo>
                    <a:lnTo>
                      <a:pt x="0" y="7728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300" b="1" dirty="0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FF64472-12DB-FC2A-6CE8-953AC70C3F64}"/>
                </a:ext>
              </a:extLst>
            </p:cNvPr>
            <p:cNvGrpSpPr/>
            <p:nvPr/>
          </p:nvGrpSpPr>
          <p:grpSpPr>
            <a:xfrm>
              <a:off x="147792" y="3487365"/>
              <a:ext cx="2106496" cy="640403"/>
              <a:chOff x="4500717" y="3906465"/>
              <a:chExt cx="2106496" cy="640403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5EFBB4D7-0C7D-9151-31E5-69A143A37B96}"/>
                  </a:ext>
                </a:extLst>
              </p:cNvPr>
              <p:cNvSpPr/>
              <p:nvPr/>
            </p:nvSpPr>
            <p:spPr>
              <a:xfrm>
                <a:off x="4500717" y="3906465"/>
                <a:ext cx="1660106" cy="366226"/>
              </a:xfrm>
              <a:custGeom>
                <a:avLst/>
                <a:gdLst/>
                <a:ahLst/>
                <a:cxnLst/>
                <a:rect l="l" t="t" r="r" b="b"/>
                <a:pathLst>
                  <a:path w="1011786" h="266557">
                    <a:moveTo>
                      <a:pt x="133278" y="0"/>
                    </a:moveTo>
                    <a:lnTo>
                      <a:pt x="878508" y="0"/>
                    </a:lnTo>
                    <a:cubicBezTo>
                      <a:pt x="913855" y="0"/>
                      <a:pt x="947755" y="14042"/>
                      <a:pt x="972750" y="39036"/>
                    </a:cubicBezTo>
                    <a:cubicBezTo>
                      <a:pt x="997744" y="64031"/>
                      <a:pt x="1011786" y="97931"/>
                      <a:pt x="1011786" y="133278"/>
                    </a:cubicBezTo>
                    <a:lnTo>
                      <a:pt x="1011786" y="133278"/>
                    </a:lnTo>
                    <a:cubicBezTo>
                      <a:pt x="1011786" y="168626"/>
                      <a:pt x="997744" y="202526"/>
                      <a:pt x="972750" y="227520"/>
                    </a:cubicBezTo>
                    <a:cubicBezTo>
                      <a:pt x="947755" y="252515"/>
                      <a:pt x="913855" y="266557"/>
                      <a:pt x="878508" y="266557"/>
                    </a:cubicBezTo>
                    <a:lnTo>
                      <a:pt x="133278" y="266557"/>
                    </a:lnTo>
                    <a:cubicBezTo>
                      <a:pt x="97931" y="266557"/>
                      <a:pt x="64031" y="252515"/>
                      <a:pt x="39036" y="227520"/>
                    </a:cubicBezTo>
                    <a:cubicBezTo>
                      <a:pt x="14042" y="202526"/>
                      <a:pt x="0" y="168626"/>
                      <a:pt x="0" y="133278"/>
                    </a:cubicBezTo>
                    <a:lnTo>
                      <a:pt x="0" y="133278"/>
                    </a:lnTo>
                    <a:cubicBezTo>
                      <a:pt x="0" y="97931"/>
                      <a:pt x="14042" y="64031"/>
                      <a:pt x="39036" y="39036"/>
                    </a:cubicBezTo>
                    <a:cubicBezTo>
                      <a:pt x="64031" y="14042"/>
                      <a:pt x="97931" y="0"/>
                      <a:pt x="13327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Processor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pic>
            <p:nvPicPr>
              <p:cNvPr id="74" name="Picture 6" descr="ESP32 for IoT: A Complete Guide">
                <a:extLst>
                  <a:ext uri="{FF2B5EF4-FFF2-40B4-BE49-F238E27FC236}">
                    <a16:creationId xmlns:a16="http://schemas.microsoft.com/office/drawing/2014/main" id="{99B4EB27-A39B-175A-E322-268071680D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5250" b="98500" l="1228" r="97262">
                            <a14:foregroundMark x1="6138" y1="44125" x2="12748" y2="47250"/>
                            <a14:foregroundMark x1="1322" y1="43500" x2="4627" y2="47625"/>
                            <a14:foregroundMark x1="36638" y1="5250" x2="39754" y2="16375"/>
                            <a14:foregroundMark x1="64023" y1="92500" x2="59301" y2="92125"/>
                            <a14:foregroundMark x1="62606" y1="98500" x2="62417" y2="94375"/>
                            <a14:foregroundMark x1="92729" y1="50125" x2="92257" y2="58375"/>
                            <a14:foregroundMark x1="97262" y1="52000" x2="92729" y2="5175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63397" y="3984967"/>
                <a:ext cx="743816" cy="5619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78F465-115F-3EF7-84D8-727877B67D8B}"/>
                </a:ext>
              </a:extLst>
            </p:cNvPr>
            <p:cNvGrpSpPr/>
            <p:nvPr/>
          </p:nvGrpSpPr>
          <p:grpSpPr>
            <a:xfrm>
              <a:off x="3622664" y="4036694"/>
              <a:ext cx="1868311" cy="1015860"/>
              <a:chOff x="7975589" y="4455794"/>
              <a:chExt cx="1868311" cy="1015860"/>
            </a:xfrm>
          </p:grpSpPr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2B9B4BA1-F675-345D-A83A-7E17A275EEE6}"/>
                  </a:ext>
                </a:extLst>
              </p:cNvPr>
              <p:cNvSpPr/>
              <p:nvPr/>
            </p:nvSpPr>
            <p:spPr>
              <a:xfrm>
                <a:off x="7975589" y="4779506"/>
                <a:ext cx="1284166" cy="415226"/>
              </a:xfrm>
              <a:custGeom>
                <a:avLst/>
                <a:gdLst/>
                <a:ahLst/>
                <a:cxnLst/>
                <a:rect l="l" t="t" r="r" b="b"/>
                <a:pathLst>
                  <a:path w="916697" h="436703">
                    <a:moveTo>
                      <a:pt x="176672" y="0"/>
                    </a:moveTo>
                    <a:lnTo>
                      <a:pt x="740025" y="0"/>
                    </a:lnTo>
                    <a:cubicBezTo>
                      <a:pt x="786881" y="0"/>
                      <a:pt x="831818" y="18614"/>
                      <a:pt x="864951" y="51746"/>
                    </a:cubicBezTo>
                    <a:cubicBezTo>
                      <a:pt x="898083" y="84878"/>
                      <a:pt x="916697" y="129815"/>
                      <a:pt x="916697" y="176672"/>
                    </a:cubicBezTo>
                    <a:lnTo>
                      <a:pt x="916697" y="260031"/>
                    </a:lnTo>
                    <a:cubicBezTo>
                      <a:pt x="916697" y="306887"/>
                      <a:pt x="898083" y="351825"/>
                      <a:pt x="864951" y="384957"/>
                    </a:cubicBezTo>
                    <a:cubicBezTo>
                      <a:pt x="831818" y="418089"/>
                      <a:pt x="786881" y="436703"/>
                      <a:pt x="740025" y="436703"/>
                    </a:cubicBezTo>
                    <a:lnTo>
                      <a:pt x="176672" y="436703"/>
                    </a:lnTo>
                    <a:cubicBezTo>
                      <a:pt x="129815" y="436703"/>
                      <a:pt x="84878" y="418089"/>
                      <a:pt x="51746" y="384957"/>
                    </a:cubicBezTo>
                    <a:cubicBezTo>
                      <a:pt x="18614" y="351825"/>
                      <a:pt x="0" y="306887"/>
                      <a:pt x="0" y="260031"/>
                    </a:cubicBezTo>
                    <a:lnTo>
                      <a:pt x="0" y="176672"/>
                    </a:lnTo>
                    <a:cubicBezTo>
                      <a:pt x="0" y="129815"/>
                      <a:pt x="18614" y="84878"/>
                      <a:pt x="51746" y="51746"/>
                    </a:cubicBezTo>
                    <a:cubicBezTo>
                      <a:pt x="84878" y="18614"/>
                      <a:pt x="129815" y="0"/>
                      <a:pt x="1766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ctr"/>
                <a:r>
                  <a:rPr lang="en-US" sz="1000" b="1" spc="135">
                    <a:solidFill>
                      <a:srgbClr val="000000"/>
                    </a:solidFill>
                    <a:ea typeface="Calibri"/>
                    <a:cs typeface="Calibri"/>
                    <a:sym typeface="Calibri (MS) Bold"/>
                  </a:rPr>
                  <a:t>RTC</a:t>
                </a:r>
                <a:endParaRPr lang="en-US" sz="1000" b="1" spc="135" dirty="0">
                  <a:solidFill>
                    <a:srgbClr val="000000"/>
                  </a:solidFill>
                  <a:ea typeface="Calibri"/>
                  <a:cs typeface="Calibri"/>
                  <a:sym typeface="Calibri (MS) Bold"/>
                </a:endParaRPr>
              </a:p>
            </p:txBody>
          </p:sp>
          <p:pic>
            <p:nvPicPr>
              <p:cNvPr id="75" name="Picture 12" descr="RTC DS1302 Real Time Clock Sensor Module at ₹ 125/piece | RTC Module in  Pollachi | ID: 19969223173">
                <a:extLst>
                  <a:ext uri="{FF2B5EF4-FFF2-40B4-BE49-F238E27FC236}">
                    <a16:creationId xmlns:a16="http://schemas.microsoft.com/office/drawing/2014/main" id="{A5EE1ED3-54FB-094A-694B-203A66F41A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5600" r="90000">
                            <a14:foregroundMark x1="9400" y1="59200" x2="12600" y2="67400"/>
                            <a14:foregroundMark x1="5600" y1="60600" x2="8400" y2="62800"/>
                            <a14:foregroundMark x1="16400" y1="70000" x2="22000" y2="72600"/>
                            <a14:foregroundMark x1="85800" y1="39200" x2="85000" y2="42000"/>
                            <a14:foregroundMark x1="36600" y1="80400" x2="36200" y2="81600"/>
                            <a14:foregroundMark x1="10400" y1="66200" x2="10400" y2="64400"/>
                            <a14:foregroundMark x1="6400" y1="62000" x2="13000" y2="65200"/>
                            <a14:foregroundMark x1="69600" y1="18800" x2="68800" y2="196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9219160">
                <a:off x="8828040" y="4455794"/>
                <a:ext cx="1015860" cy="10158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8" name="Title 1">
              <a:extLst>
                <a:ext uri="{FF2B5EF4-FFF2-40B4-BE49-F238E27FC236}">
                  <a16:creationId xmlns:a16="http://schemas.microsoft.com/office/drawing/2014/main" id="{9CEC0EF3-6EED-0463-C047-68AFC6B1B270}"/>
                </a:ext>
              </a:extLst>
            </p:cNvPr>
            <p:cNvSpPr txBox="1">
              <a:spLocks/>
            </p:cNvSpPr>
            <p:nvPr/>
          </p:nvSpPr>
          <p:spPr>
            <a:xfrm>
              <a:off x="1810769" y="464579"/>
              <a:ext cx="4168450" cy="415226"/>
            </a:xfrm>
            <a:prstGeom prst="roundRect">
              <a:avLst/>
            </a:prstGeom>
            <a:solidFill>
              <a:srgbClr val="FF4500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b="1" kern="1200">
                  <a:solidFill>
                    <a:srgbClr val="FF45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GB" sz="1200" dirty="0">
                  <a:solidFill>
                    <a:schemeClr val="bg1"/>
                  </a:solidFill>
                </a:rPr>
                <a:t>Different Components of EQM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88D72E3-9BF0-CA05-FFDC-043283DA6007}"/>
              </a:ext>
            </a:extLst>
          </p:cNvPr>
          <p:cNvGrpSpPr/>
          <p:nvPr/>
        </p:nvGrpSpPr>
        <p:grpSpPr>
          <a:xfrm>
            <a:off x="5643017" y="1129096"/>
            <a:ext cx="6422900" cy="1924908"/>
            <a:chOff x="4503754" y="1595290"/>
            <a:chExt cx="7245212" cy="217135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AEA32B-1A81-0B3E-55C5-DCA592C41004}"/>
                </a:ext>
              </a:extLst>
            </p:cNvPr>
            <p:cNvGrpSpPr/>
            <p:nvPr/>
          </p:nvGrpSpPr>
          <p:grpSpPr>
            <a:xfrm>
              <a:off x="4503754" y="1920830"/>
              <a:ext cx="7245212" cy="1845810"/>
              <a:chOff x="992290" y="22657930"/>
              <a:chExt cx="28128351" cy="716605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D48D2D5-E857-7213-476F-39A7B2854A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0000" b="90000" l="10000" r="90000">
                            <a14:foregroundMark x1="53516" y1="37988" x2="59570" y2="392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999" t="29536" r="12200" b="27669"/>
              <a:stretch>
                <a:fillRect/>
              </a:stretch>
            </p:blipFill>
            <p:spPr>
              <a:xfrm>
                <a:off x="6323741" y="22903569"/>
                <a:ext cx="5835095" cy="5116984"/>
              </a:xfrm>
              <a:prstGeom prst="rect">
                <a:avLst/>
              </a:prstGeom>
            </p:spPr>
          </p:pic>
          <p:sp>
            <p:nvSpPr>
              <p:cNvPr id="21" name="Freeform 82">
                <a:extLst>
                  <a:ext uri="{FF2B5EF4-FFF2-40B4-BE49-F238E27FC236}">
                    <a16:creationId xmlns:a16="http://schemas.microsoft.com/office/drawing/2014/main" id="{2A92FCBB-A6F7-BF40-9FC2-FCAE33A62938}"/>
                  </a:ext>
                </a:extLst>
              </p:cNvPr>
              <p:cNvSpPr/>
              <p:nvPr/>
            </p:nvSpPr>
            <p:spPr>
              <a:xfrm>
                <a:off x="6662128" y="24764329"/>
                <a:ext cx="2927637" cy="1254098"/>
              </a:xfrm>
              <a:custGeom>
                <a:avLst/>
                <a:gdLst/>
                <a:ahLst/>
                <a:cxnLst/>
                <a:rect l="l" t="t" r="r" b="b"/>
                <a:pathLst>
                  <a:path w="1237925" h="530284">
                    <a:moveTo>
                      <a:pt x="0" y="0"/>
                    </a:moveTo>
                    <a:lnTo>
                      <a:pt x="1237925" y="0"/>
                    </a:lnTo>
                    <a:lnTo>
                      <a:pt x="1237925" y="530285"/>
                    </a:lnTo>
                    <a:lnTo>
                      <a:pt x="0" y="530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-35487" t="-30503" r="-34980" b="-126416"/>
                </a:stretch>
              </a:blipFill>
            </p:spPr>
            <p:txBody>
              <a:bodyPr/>
              <a:lstStyle/>
              <a:p>
                <a:endParaRPr lang="en-IN"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2" name="Picture 21" descr="A cartoon of a box on a pole&#10;&#10;AI-generated content may be incorrect.">
                <a:extLst>
                  <a:ext uri="{FF2B5EF4-FFF2-40B4-BE49-F238E27FC236}">
                    <a16:creationId xmlns:a16="http://schemas.microsoft.com/office/drawing/2014/main" id="{6E3226BF-979B-5C8D-4B26-BC98F2A10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91" t="3785" r="26427" b="35391"/>
              <a:stretch>
                <a:fillRect/>
              </a:stretch>
            </p:blipFill>
            <p:spPr>
              <a:xfrm>
                <a:off x="1125951" y="23419521"/>
                <a:ext cx="4982200" cy="477367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23" name="Picture 22" descr="A blue and yellow snake logo&#10;&#10;AI-generated content may be incorrect.">
                <a:extLst>
                  <a:ext uri="{FF2B5EF4-FFF2-40B4-BE49-F238E27FC236}">
                    <a16:creationId xmlns:a16="http://schemas.microsoft.com/office/drawing/2014/main" id="{A8C9835B-2B80-D9C7-CD12-62B1276A0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307803" y="27642933"/>
                <a:ext cx="2181048" cy="2181048"/>
              </a:xfrm>
              <a:prstGeom prst="rect">
                <a:avLst/>
              </a:prstGeom>
            </p:spPr>
          </p:pic>
          <p:pic>
            <p:nvPicPr>
              <p:cNvPr id="24" name="Picture 2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36EB7CD-9C9E-2D6E-CC9F-8110B0F99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03351" y="28165791"/>
                <a:ext cx="3288862" cy="128704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F3078E-6B8E-A02B-1E73-07EBD8EC4BD3}"/>
                  </a:ext>
                </a:extLst>
              </p:cNvPr>
              <p:cNvSpPr txBox="1"/>
              <p:nvPr/>
            </p:nvSpPr>
            <p:spPr>
              <a:xfrm>
                <a:off x="10114404" y="23154871"/>
                <a:ext cx="3047250" cy="1078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Server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70E9BB-B152-DE3F-3B2B-3D86F51F01A8}"/>
                  </a:ext>
                </a:extLst>
              </p:cNvPr>
              <p:cNvSpPr txBox="1"/>
              <p:nvPr/>
            </p:nvSpPr>
            <p:spPr>
              <a:xfrm>
                <a:off x="992290" y="28193196"/>
                <a:ext cx="4982198" cy="1553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EQM unit deployed in the field</a:t>
                </a:r>
              </a:p>
            </p:txBody>
          </p:sp>
          <p:pic>
            <p:nvPicPr>
              <p:cNvPr id="27" name="Picture 26" descr="A magnifying glass over a graph&#10;&#10;AI-generated content may be incorrect.">
                <a:extLst>
                  <a:ext uri="{FF2B5EF4-FFF2-40B4-BE49-F238E27FC236}">
                    <a16:creationId xmlns:a16="http://schemas.microsoft.com/office/drawing/2014/main" id="{767DB874-EC67-7AF2-0E19-05FEDCBFD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0" t="9594" r="7346" b="12275"/>
              <a:stretch>
                <a:fillRect/>
              </a:stretch>
            </p:blipFill>
            <p:spPr>
              <a:xfrm>
                <a:off x="13785141" y="22696109"/>
                <a:ext cx="6677869" cy="5992672"/>
              </a:xfrm>
              <a:prstGeom prst="rect">
                <a:avLst/>
              </a:prstGeom>
            </p:spPr>
          </p:pic>
          <p:sp>
            <p:nvSpPr>
              <p:cNvPr id="28" name="Freeform 83">
                <a:extLst>
                  <a:ext uri="{FF2B5EF4-FFF2-40B4-BE49-F238E27FC236}">
                    <a16:creationId xmlns:a16="http://schemas.microsoft.com/office/drawing/2014/main" id="{CDFE7F6A-B8D5-710D-FA01-5D414A74B956}"/>
                  </a:ext>
                </a:extLst>
              </p:cNvPr>
              <p:cNvSpPr/>
              <p:nvPr/>
            </p:nvSpPr>
            <p:spPr>
              <a:xfrm>
                <a:off x="12274028" y="25541139"/>
                <a:ext cx="1609113" cy="530438"/>
              </a:xfrm>
              <a:custGeom>
                <a:avLst/>
                <a:gdLst/>
                <a:ahLst/>
                <a:cxnLst/>
                <a:rect l="l" t="t" r="r" b="b"/>
                <a:pathLst>
                  <a:path w="513435" h="224358">
                    <a:moveTo>
                      <a:pt x="0" y="0"/>
                    </a:moveTo>
                    <a:lnTo>
                      <a:pt x="513434" y="0"/>
                    </a:lnTo>
                    <a:lnTo>
                      <a:pt x="513434" y="224358"/>
                    </a:lnTo>
                    <a:lnTo>
                      <a:pt x="0" y="22435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A5493FA-B1DE-DD60-2BEB-8552CF18C324}"/>
                  </a:ext>
                </a:extLst>
              </p:cNvPr>
              <p:cNvSpPr txBox="1"/>
              <p:nvPr/>
            </p:nvSpPr>
            <p:spPr>
              <a:xfrm>
                <a:off x="15912355" y="28688780"/>
                <a:ext cx="2776153" cy="1078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QA/QC</a:t>
                </a:r>
              </a:p>
            </p:txBody>
          </p:sp>
          <p:pic>
            <p:nvPicPr>
              <p:cNvPr id="30" name="Picture 29" descr="A computer monitor and phone on a cloud&#10;&#10;AI-generated content may be incorrect.">
                <a:extLst>
                  <a:ext uri="{FF2B5EF4-FFF2-40B4-BE49-F238E27FC236}">
                    <a16:creationId xmlns:a16="http://schemas.microsoft.com/office/drawing/2014/main" id="{44C0008E-5E3E-81D0-8DDA-3983305908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079"/>
              <a:stretch>
                <a:fillRect/>
              </a:stretch>
            </p:blipFill>
            <p:spPr>
              <a:xfrm>
                <a:off x="21465832" y="23894976"/>
                <a:ext cx="6442708" cy="5471228"/>
              </a:xfrm>
              <a:prstGeom prst="rect">
                <a:avLst/>
              </a:prstGeom>
            </p:spPr>
          </p:pic>
          <p:sp>
            <p:nvSpPr>
              <p:cNvPr id="31" name="Freeform 83">
                <a:extLst>
                  <a:ext uri="{FF2B5EF4-FFF2-40B4-BE49-F238E27FC236}">
                    <a16:creationId xmlns:a16="http://schemas.microsoft.com/office/drawing/2014/main" id="{0944AE3F-FB0E-D21B-246C-BE8107F6354A}"/>
                  </a:ext>
                </a:extLst>
              </p:cNvPr>
              <p:cNvSpPr/>
              <p:nvPr/>
            </p:nvSpPr>
            <p:spPr>
              <a:xfrm>
                <a:off x="7311424" y="25541139"/>
                <a:ext cx="1609113" cy="530438"/>
              </a:xfrm>
              <a:custGeom>
                <a:avLst/>
                <a:gdLst/>
                <a:ahLst/>
                <a:cxnLst/>
                <a:rect l="l" t="t" r="r" b="b"/>
                <a:pathLst>
                  <a:path w="513435" h="224358">
                    <a:moveTo>
                      <a:pt x="0" y="0"/>
                    </a:moveTo>
                    <a:lnTo>
                      <a:pt x="513434" y="0"/>
                    </a:lnTo>
                    <a:lnTo>
                      <a:pt x="513434" y="224358"/>
                    </a:lnTo>
                    <a:lnTo>
                      <a:pt x="0" y="22435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 83">
                <a:extLst>
                  <a:ext uri="{FF2B5EF4-FFF2-40B4-BE49-F238E27FC236}">
                    <a16:creationId xmlns:a16="http://schemas.microsoft.com/office/drawing/2014/main" id="{095C7823-59A5-8B1A-2D47-A56B6DA6EA44}"/>
                  </a:ext>
                </a:extLst>
              </p:cNvPr>
              <p:cNvSpPr/>
              <p:nvPr/>
            </p:nvSpPr>
            <p:spPr>
              <a:xfrm>
                <a:off x="20317558" y="25536414"/>
                <a:ext cx="1609113" cy="530438"/>
              </a:xfrm>
              <a:custGeom>
                <a:avLst/>
                <a:gdLst/>
                <a:ahLst/>
                <a:cxnLst/>
                <a:rect l="l" t="t" r="r" b="b"/>
                <a:pathLst>
                  <a:path w="513435" h="224358">
                    <a:moveTo>
                      <a:pt x="0" y="0"/>
                    </a:moveTo>
                    <a:lnTo>
                      <a:pt x="513434" y="0"/>
                    </a:lnTo>
                    <a:lnTo>
                      <a:pt x="513434" y="224358"/>
                    </a:lnTo>
                    <a:lnTo>
                      <a:pt x="0" y="22435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33" name="Picture 32" descr="A group of colorful logos&#10;&#10;AI-generated content may be incorrect.">
                <a:extLst>
                  <a:ext uri="{FF2B5EF4-FFF2-40B4-BE49-F238E27FC236}">
                    <a16:creationId xmlns:a16="http://schemas.microsoft.com/office/drawing/2014/main" id="{43675465-6742-D1B1-FB88-AE8D86DA3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BEBA8EAE-BF5A-486C-A8C5-ECC9F3942E4B}">
                    <a14:imgProps xmlns:a14="http://schemas.microsoft.com/office/drawing/2010/main">
                      <a14:imgLayer r:embed="rId25">
                        <a14:imgEffect>
                          <a14:backgroundRemoval t="10000" b="90000" l="10000" r="90000">
                            <a14:foregroundMark x1="37000" y1="28000" x2="37000" y2="30000"/>
                            <a14:foregroundMark x1="45750" y1="27000" x2="45750" y2="28750"/>
                            <a14:foregroundMark x1="56250" y1="28000" x2="56250" y2="28000"/>
                            <a14:foregroundMark x1="60000" y1="28000" x2="60000" y2="28000"/>
                            <a14:foregroundMark x1="73750" y1="33000" x2="73750" y2="33000"/>
                            <a14:foregroundMark x1="77250" y1="32500" x2="77250" y2="32500"/>
                            <a14:foregroundMark x1="30250" y1="33250" x2="30250" y2="33250"/>
                            <a14:foregroundMark x1="24000" y1="34500" x2="24000" y2="34500"/>
                            <a14:foregroundMark x1="17250" y1="33750" x2="17250" y2="3375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4" t="20950" r="10742" b="23712"/>
              <a:stretch>
                <a:fillRect/>
              </a:stretch>
            </p:blipFill>
            <p:spPr>
              <a:xfrm>
                <a:off x="24870212" y="22657930"/>
                <a:ext cx="4250429" cy="2882712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BAAB86-A53D-126E-9BF5-013644B71F44}"/>
                  </a:ext>
                </a:extLst>
              </p:cNvPr>
              <p:cNvSpPr txBox="1"/>
              <p:nvPr/>
            </p:nvSpPr>
            <p:spPr>
              <a:xfrm>
                <a:off x="21621619" y="28710633"/>
                <a:ext cx="6131130" cy="955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Interactive Dashboard</a:t>
                </a:r>
              </a:p>
            </p:txBody>
          </p:sp>
        </p:grp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CEAEF735-CE92-09E4-025A-814ADB56526E}"/>
                </a:ext>
              </a:extLst>
            </p:cNvPr>
            <p:cNvSpPr txBox="1">
              <a:spLocks/>
            </p:cNvSpPr>
            <p:nvPr/>
          </p:nvSpPr>
          <p:spPr>
            <a:xfrm>
              <a:off x="6718265" y="1595290"/>
              <a:ext cx="1833218" cy="270000"/>
            </a:xfrm>
            <a:prstGeom prst="roundRect">
              <a:avLst/>
            </a:prstGeom>
            <a:solidFill>
              <a:srgbClr val="FF4500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b="1" kern="1200">
                  <a:solidFill>
                    <a:srgbClr val="FF45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GB" sz="1200" dirty="0">
                  <a:solidFill>
                    <a:schemeClr val="bg1"/>
                  </a:solidFill>
                </a:rPr>
                <a:t>Network Architecture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882DA9-FA3C-DE17-4B8A-7167FF301233}"/>
              </a:ext>
            </a:extLst>
          </p:cNvPr>
          <p:cNvGrpSpPr/>
          <p:nvPr/>
        </p:nvGrpSpPr>
        <p:grpSpPr>
          <a:xfrm>
            <a:off x="6169574" y="3308281"/>
            <a:ext cx="5733568" cy="2836291"/>
            <a:chOff x="4891517" y="2664433"/>
            <a:chExt cx="7124943" cy="3524579"/>
          </a:xfrm>
        </p:grpSpPr>
        <p:pic>
          <p:nvPicPr>
            <p:cNvPr id="36" name="Picture 35" descr="A white rectangular sign with black wires attached to a brown wall&#10;&#10;AI-generated content may be incorrect.">
              <a:extLst>
                <a:ext uri="{FF2B5EF4-FFF2-40B4-BE49-F238E27FC236}">
                  <a16:creationId xmlns:a16="http://schemas.microsoft.com/office/drawing/2014/main" id="{099E1E88-A64E-1870-4E2C-0AC824B0F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33" t="11152" b="32274"/>
            <a:stretch>
              <a:fillRect/>
            </a:stretch>
          </p:blipFill>
          <p:spPr>
            <a:xfrm>
              <a:off x="9269922" y="2887402"/>
              <a:ext cx="2746538" cy="3301610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0101A0F-989B-9DE4-9CBB-9252C00E8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" b="1966"/>
            <a:stretch/>
          </p:blipFill>
          <p:spPr>
            <a:xfrm rot="10800000" flipH="1" flipV="1">
              <a:off x="6603309" y="2664433"/>
              <a:ext cx="3009889" cy="2168019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pic>
          <p:nvPicPr>
            <p:cNvPr id="38" name="Picture 37" descr="A close-up of a white box&#10;&#10;AI-generated content may be incorrect.">
              <a:extLst>
                <a:ext uri="{FF2B5EF4-FFF2-40B4-BE49-F238E27FC236}">
                  <a16:creationId xmlns:a16="http://schemas.microsoft.com/office/drawing/2014/main" id="{95374C8B-BC8A-4A6C-58B6-D71236241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88" b="6202"/>
            <a:stretch>
              <a:fillRect/>
            </a:stretch>
          </p:blipFill>
          <p:spPr>
            <a:xfrm>
              <a:off x="4891517" y="2887402"/>
              <a:ext cx="2015662" cy="3089285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0FF6ADE2-89C6-FEF3-0CD7-DFBC9327B14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6273" y="4389800"/>
            <a:ext cx="1963719" cy="169151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B87B55-DF73-4A44-19B0-59C55233C52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44210" y="4389801"/>
            <a:ext cx="1800000" cy="16915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EC50DE0-01E8-3AC9-C582-439EB5FA050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44210" y="4389801"/>
            <a:ext cx="1739326" cy="1691516"/>
          </a:xfrm>
          <a:prstGeom prst="rect">
            <a:avLst/>
          </a:prstGeom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4E5C7FB3-5A5B-5004-7C28-92C44488AF97}"/>
              </a:ext>
            </a:extLst>
          </p:cNvPr>
          <p:cNvSpPr txBox="1">
            <a:spLocks/>
          </p:cNvSpPr>
          <p:nvPr/>
        </p:nvSpPr>
        <p:spPr>
          <a:xfrm>
            <a:off x="1237315" y="3959555"/>
            <a:ext cx="2878684" cy="237100"/>
          </a:xfrm>
          <a:prstGeom prst="roundRect">
            <a:avLst/>
          </a:prstGeom>
          <a:solidFill>
            <a:srgbClr val="FF45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FF45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GB" sz="1200" dirty="0">
                <a:solidFill>
                  <a:schemeClr val="bg1"/>
                </a:solidFill>
              </a:rPr>
              <a:t>Calibration with Ref . Grade Instruments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2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198A-EBB2-1C8E-E86F-91D8F230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6B13C100-AAA5-29F8-3BDD-8A904CAA08FE}"/>
              </a:ext>
            </a:extLst>
          </p:cNvPr>
          <p:cNvGrpSpPr/>
          <p:nvPr/>
        </p:nvGrpSpPr>
        <p:grpSpPr>
          <a:xfrm>
            <a:off x="263050" y="885004"/>
            <a:ext cx="11584502" cy="2699467"/>
            <a:chOff x="13865" y="1427599"/>
            <a:chExt cx="11584502" cy="2699467"/>
          </a:xfrm>
        </p:grpSpPr>
        <p:pic>
          <p:nvPicPr>
            <p:cNvPr id="7" name="Picture 6" descr="Isometric View Icons - Free SVG &amp; PNG Isometric View Images - Noun Project">
              <a:extLst>
                <a:ext uri="{FF2B5EF4-FFF2-40B4-BE49-F238E27FC236}">
                  <a16:creationId xmlns:a16="http://schemas.microsoft.com/office/drawing/2014/main" id="{85C7D436-0CC7-D9EF-A22C-A27A72C4A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996" t="12043" r="16969" b="14029"/>
            <a:stretch>
              <a:fillRect/>
            </a:stretch>
          </p:blipFill>
          <p:spPr>
            <a:xfrm>
              <a:off x="1709518" y="3529408"/>
              <a:ext cx="577700" cy="582009"/>
            </a:xfrm>
            <a:prstGeom prst="rect">
              <a:avLst/>
            </a:prstGeom>
          </p:spPr>
        </p:pic>
        <p:pic>
          <p:nvPicPr>
            <p:cNvPr id="1026" name="Picture 2" descr="top view Icon - Free PNG &amp; SVG 324908 - Noun Project">
              <a:extLst>
                <a:ext uri="{FF2B5EF4-FFF2-40B4-BE49-F238E27FC236}">
                  <a16:creationId xmlns:a16="http://schemas.microsoft.com/office/drawing/2014/main" id="{093781EA-1F41-5CCA-68F6-C95D105E71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50" t="16517" r="16497" b="16140"/>
            <a:stretch>
              <a:fillRect/>
            </a:stretch>
          </p:blipFill>
          <p:spPr bwMode="auto">
            <a:xfrm>
              <a:off x="6501168" y="3581474"/>
              <a:ext cx="600059" cy="545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13" name="Group 4112">
              <a:extLst>
                <a:ext uri="{FF2B5EF4-FFF2-40B4-BE49-F238E27FC236}">
                  <a16:creationId xmlns:a16="http://schemas.microsoft.com/office/drawing/2014/main" id="{FE9EFAF1-D879-5B3F-A247-417E86FFF2F5}"/>
                </a:ext>
              </a:extLst>
            </p:cNvPr>
            <p:cNvGrpSpPr/>
            <p:nvPr/>
          </p:nvGrpSpPr>
          <p:grpSpPr>
            <a:xfrm>
              <a:off x="13865" y="1427599"/>
              <a:ext cx="11584502" cy="2362364"/>
              <a:chOff x="13865" y="1427599"/>
              <a:chExt cx="11584502" cy="236236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6838450-36D7-3ED7-B3AB-2857627FEBBC}"/>
                  </a:ext>
                </a:extLst>
              </p:cNvPr>
              <p:cNvGrpSpPr/>
              <p:nvPr/>
            </p:nvGrpSpPr>
            <p:grpSpPr>
              <a:xfrm>
                <a:off x="13865" y="1427599"/>
                <a:ext cx="8223682" cy="2362364"/>
                <a:chOff x="3953210" y="2917611"/>
                <a:chExt cx="7400590" cy="2362364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7935AD27-6E24-F55A-031B-F9D16F49546A}"/>
                    </a:ext>
                  </a:extLst>
                </p:cNvPr>
                <p:cNvGrpSpPr/>
                <p:nvPr/>
              </p:nvGrpSpPr>
              <p:grpSpPr>
                <a:xfrm>
                  <a:off x="3953210" y="2917611"/>
                  <a:ext cx="7400590" cy="2362364"/>
                  <a:chOff x="-97256" y="3945606"/>
                  <a:chExt cx="7400590" cy="2362364"/>
                </a:xfrm>
              </p:grpSpPr>
              <p:pic>
                <p:nvPicPr>
                  <p:cNvPr id="4102" name="Picture 6" descr="Ip65 Images – Browse 138 Stock Photos, Vectors, and Video | Adobe Stock">
                    <a:extLst>
                      <a:ext uri="{FF2B5EF4-FFF2-40B4-BE49-F238E27FC236}">
                        <a16:creationId xmlns:a16="http://schemas.microsoft.com/office/drawing/2014/main" id="{2CE52443-4CD6-53E3-F224-9CD8DF05BA7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3314" b="10993"/>
                  <a:stretch>
                    <a:fillRect/>
                  </a:stretch>
                </p:blipFill>
                <p:spPr bwMode="auto">
                  <a:xfrm>
                    <a:off x="3717622" y="5615514"/>
                    <a:ext cx="524170" cy="69245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AC876718-BCDE-A056-C9D0-F61A4BE812E2}"/>
                      </a:ext>
                    </a:extLst>
                  </p:cNvPr>
                  <p:cNvGrpSpPr/>
                  <p:nvPr/>
                </p:nvGrpSpPr>
                <p:grpSpPr>
                  <a:xfrm>
                    <a:off x="4718157" y="3945606"/>
                    <a:ext cx="2585177" cy="2259970"/>
                    <a:chOff x="7123915" y="1530927"/>
                    <a:chExt cx="3654676" cy="3194929"/>
                  </a:xfrm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7BBE1259-6F0A-3576-D5F8-C657C2475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23915" y="1530927"/>
                      <a:ext cx="3654676" cy="2657475"/>
                      <a:chOff x="7058025" y="1981200"/>
                      <a:chExt cx="3654676" cy="2657475"/>
                    </a:xfrm>
                  </p:grpSpPr>
                  <p:sp>
                    <p:nvSpPr>
                      <p:cNvPr id="24" name="Rectangle: Beveled 23">
                        <a:extLst>
                          <a:ext uri="{FF2B5EF4-FFF2-40B4-BE49-F238E27FC236}">
                            <a16:creationId xmlns:a16="http://schemas.microsoft.com/office/drawing/2014/main" id="{5F5A5D3C-8296-9001-4760-C0EBA1CBDD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58025" y="1981200"/>
                        <a:ext cx="3654676" cy="2657475"/>
                      </a:xfrm>
                      <a:prstGeom prst="bevel">
                        <a:avLst/>
                      </a:prstGeom>
                      <a:solidFill>
                        <a:schemeClr val="bg1"/>
                      </a:solidFill>
                      <a:ln w="889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CBE1D5D0-3AC0-2515-D9DD-94970FB50A84}"/>
                          </a:ext>
                        </a:extLst>
                      </p:cNvPr>
                      <p:cNvCxnSpPr>
                        <a:cxnSpLocks/>
                        <a:stCxn id="24" idx="6"/>
                        <a:endCxn id="24" idx="2"/>
                      </p:cNvCxnSpPr>
                      <p:nvPr/>
                    </p:nvCxnSpPr>
                    <p:spPr>
                      <a:xfrm>
                        <a:off x="8885363" y="1981200"/>
                        <a:ext cx="0" cy="2657475"/>
                      </a:xfrm>
                      <a:prstGeom prst="line">
                        <a:avLst/>
                      </a:prstGeom>
                      <a:ln w="889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6" name="Arrow: Bent 25">
                        <a:extLst>
                          <a:ext uri="{FF2B5EF4-FFF2-40B4-BE49-F238E27FC236}">
                            <a16:creationId xmlns:a16="http://schemas.microsoft.com/office/drawing/2014/main" id="{1677EFDE-0D3D-E35A-6F08-464F6F27F28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885361" y="2514599"/>
                        <a:ext cx="1125411" cy="2124075"/>
                      </a:xfrm>
                      <a:prstGeom prst="bentArrow">
                        <a:avLst>
                          <a:gd name="adj1" fmla="val 25000"/>
                          <a:gd name="adj2" fmla="val 25340"/>
                          <a:gd name="adj3" fmla="val 0"/>
                          <a:gd name="adj4" fmla="val 43750"/>
                        </a:avLst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pic>
                    <p:nvPicPr>
                      <p:cNvPr id="27" name="Picture 26" descr="Proximity Sensor icon in Ice Cream Style">
                        <a:extLst>
                          <a:ext uri="{FF2B5EF4-FFF2-40B4-BE49-F238E27FC236}">
                            <a16:creationId xmlns:a16="http://schemas.microsoft.com/office/drawing/2014/main" id="{EB81B30E-A2EA-BEE8-941D-30242F426F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rcRect l="20153" t="13534" r="15544" b="20654"/>
                      <a:stretch>
                        <a:fillRect/>
                      </a:stretch>
                    </p:blipFill>
                    <p:spPr>
                      <a:xfrm>
                        <a:off x="7602410" y="2877937"/>
                        <a:ext cx="1103949" cy="8640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FEAA7A48-3499-0571-4981-812E0BAB8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89614" y="4369033"/>
                        <a:ext cx="293818" cy="180000"/>
                      </a:xfrm>
                      <a:prstGeom prst="ellipse">
                        <a:avLst/>
                      </a:prstGeom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pic>
                  <p:nvPicPr>
                    <p:cNvPr id="21" name="Picture 16" descr="Animated left arrow linear ui icon">
                      <a:extLst>
                        <a:ext uri="{FF2B5EF4-FFF2-40B4-BE49-F238E27FC236}">
                          <a16:creationId xmlns:a16="http://schemas.microsoft.com/office/drawing/2014/main" id="{6A269D32-6EE2-38E0-1F27-9772D6FCFFE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33222" t="25790" r="34796" b="26062"/>
                    <a:stretch>
                      <a:fillRect/>
                    </a:stretch>
                  </p:blipFill>
                  <p:spPr bwMode="auto">
                    <a:xfrm rot="5400000">
                      <a:off x="9741827" y="4312918"/>
                      <a:ext cx="447183" cy="37869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2" name="Picture 16" descr="Animated left arrow linear ui icon">
                      <a:extLst>
                        <a:ext uri="{FF2B5EF4-FFF2-40B4-BE49-F238E27FC236}">
                          <a16:creationId xmlns:a16="http://schemas.microsoft.com/office/drawing/2014/main" id="{D022F8CD-8290-CBFC-8237-06B9C740992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33222" t="25790" r="34796" b="26062"/>
                    <a:stretch>
                      <a:fillRect/>
                    </a:stretch>
                  </p:blipFill>
                  <p:spPr bwMode="auto">
                    <a:xfrm rot="16200000" flipV="1">
                      <a:off x="7904907" y="4312919"/>
                      <a:ext cx="447183" cy="37869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" name="Picture 16" descr="Animated left arrow linear ui icon">
                      <a:extLst>
                        <a:ext uri="{FF2B5EF4-FFF2-40B4-BE49-F238E27FC236}">
                          <a16:creationId xmlns:a16="http://schemas.microsoft.com/office/drawing/2014/main" id="{092992D9-890B-2607-88E8-28F0E27BCEA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33222" t="25790" r="34796" b="26062"/>
                    <a:stretch>
                      <a:fillRect/>
                    </a:stretch>
                  </p:blipFill>
                  <p:spPr bwMode="auto">
                    <a:xfrm>
                      <a:off x="8414567" y="2148048"/>
                      <a:ext cx="447183" cy="37869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33" name="Title 1">
                    <a:extLst>
                      <a:ext uri="{FF2B5EF4-FFF2-40B4-BE49-F238E27FC236}">
                        <a16:creationId xmlns:a16="http://schemas.microsoft.com/office/drawing/2014/main" id="{B36DC6BC-C723-F497-EEFA-D29D6CAA129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rot="16200000">
                    <a:off x="-1005690" y="5006228"/>
                    <a:ext cx="2037108" cy="220240"/>
                  </a:xfrm>
                  <a:prstGeom prst="roundRect">
                    <a:avLst/>
                  </a:prstGeom>
                  <a:solidFill>
                    <a:srgbClr val="FF4500"/>
                  </a:solidFill>
                </p:spPr>
                <p:txBody>
                  <a:bodyPr vert="horz" lIns="91440" tIns="45720" rIns="91440" bIns="45720" rtlCol="0" anchor="ctr">
                    <a:noAutofit/>
                  </a:bodyPr>
                  <a:lstStyle>
                    <a:lvl1pPr algn="l" defTabSz="914400" rtl="0" eaLnBrk="1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  <a:defRPr sz="6000" b="1" kern="1200">
                        <a:solidFill>
                          <a:srgbClr val="FF45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GB" sz="1400" dirty="0">
                        <a:solidFill>
                          <a:schemeClr val="bg1"/>
                        </a:solidFill>
                      </a:rPr>
                      <a:t>Geometry of Device</a:t>
                    </a:r>
                    <a:endParaRPr lang="en-IN" sz="14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0616BB28-AA2E-A423-8B0B-2A5BA60943F0}"/>
                    </a:ext>
                  </a:extLst>
                </p:cNvPr>
                <p:cNvGrpSpPr/>
                <p:nvPr/>
              </p:nvGrpSpPr>
              <p:grpSpPr>
                <a:xfrm>
                  <a:off x="4476713" y="3034421"/>
                  <a:ext cx="3566686" cy="1826839"/>
                  <a:chOff x="1511841" y="2026225"/>
                  <a:chExt cx="4295775" cy="2200275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D3B871FA-C28C-2767-55E1-8C7F459D4390}"/>
                      </a:ext>
                    </a:extLst>
                  </p:cNvPr>
                  <p:cNvGrpSpPr/>
                  <p:nvPr/>
                </p:nvGrpSpPr>
                <p:grpSpPr>
                  <a:xfrm>
                    <a:off x="1511841" y="2026225"/>
                    <a:ext cx="4295775" cy="2200275"/>
                    <a:chOff x="1702732" y="1759526"/>
                    <a:chExt cx="4295775" cy="2200275"/>
                  </a:xfrm>
                </p:grpSpPr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77EB92A4-1470-72DF-AE76-7CECFB1DE2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02732" y="1759526"/>
                      <a:ext cx="4295775" cy="2200275"/>
                      <a:chOff x="1445951" y="2048157"/>
                      <a:chExt cx="4295775" cy="2200275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AB44C4ED-DB2A-8BB6-85AB-B0078EB4AB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45951" y="2048157"/>
                        <a:ext cx="4295775" cy="2200275"/>
                        <a:chOff x="3470024" y="1905000"/>
                        <a:chExt cx="4295775" cy="2200275"/>
                      </a:xfrm>
                    </p:grpSpPr>
                    <p:sp>
                      <p:nvSpPr>
                        <p:cNvPr id="43" name="Cube 42">
                          <a:extLst>
                            <a:ext uri="{FF2B5EF4-FFF2-40B4-BE49-F238E27FC236}">
                              <a16:creationId xmlns:a16="http://schemas.microsoft.com/office/drawing/2014/main" id="{CE55AB07-1E61-D179-3E66-894E8BE17C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470024" y="1905000"/>
                          <a:ext cx="4295775" cy="2200275"/>
                        </a:xfrm>
                        <a:prstGeom prst="cube">
                          <a:avLst>
                            <a:gd name="adj" fmla="val 57035"/>
                          </a:avLst>
                        </a:prstGeom>
                        <a:solidFill>
                          <a:schemeClr val="bg1"/>
                        </a:solidFill>
                        <a:ln w="889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pic>
                      <p:nvPicPr>
                        <p:cNvPr id="44" name="Picture 4" descr="Mesh circle pattern Images - Free ...">
                          <a:extLst>
                            <a:ext uri="{FF2B5EF4-FFF2-40B4-BE49-F238E27FC236}">
                              <a16:creationId xmlns:a16="http://schemas.microsoft.com/office/drawing/2014/main" id="{0F777994-E45E-09AA-6548-789A479A8C8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 rotWithShape="1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74559" b="54505"/>
                        <a:stretch>
                          <a:fillRect/>
                        </a:stretch>
                      </p:blipFill>
                      <p:spPr bwMode="auto">
                        <a:xfrm>
                          <a:off x="5583747" y="3452601"/>
                          <a:ext cx="360000" cy="36000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chemeClr val="tx1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45" name="Straight Connector 44">
                          <a:extLst>
                            <a:ext uri="{FF2B5EF4-FFF2-40B4-BE49-F238E27FC236}">
                              <a16:creationId xmlns:a16="http://schemas.microsoft.com/office/drawing/2014/main" id="{B1C874FE-D0F0-1E4B-D826-D376D3F189EF}"/>
                            </a:ext>
                          </a:extLst>
                        </p:cNvPr>
                        <p:cNvCxnSpPr>
                          <a:stCxn id="43" idx="0"/>
                          <a:endCxn id="43" idx="1"/>
                        </p:cNvCxnSpPr>
                        <p:nvPr/>
                      </p:nvCxnSpPr>
                      <p:spPr>
                        <a:xfrm flipH="1">
                          <a:off x="4990448" y="1905000"/>
                          <a:ext cx="1254927" cy="1254927"/>
                        </a:xfrm>
                        <a:prstGeom prst="line">
                          <a:avLst/>
                        </a:prstGeom>
                        <a:ln w="889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42" name="Straight Connector 41">
                        <a:extLst>
                          <a:ext uri="{FF2B5EF4-FFF2-40B4-BE49-F238E27FC236}">
                            <a16:creationId xmlns:a16="http://schemas.microsoft.com/office/drawing/2014/main" id="{1ED2EF12-7CFE-76E7-B037-0B1AD5EE3657}"/>
                          </a:ext>
                        </a:extLst>
                      </p:cNvPr>
                      <p:cNvCxnSpPr>
                        <a:cxnSpLocks/>
                        <a:stCxn id="43" idx="1"/>
                        <a:endCxn id="43" idx="3"/>
                      </p:cNvCxnSpPr>
                      <p:nvPr/>
                    </p:nvCxnSpPr>
                    <p:spPr>
                      <a:xfrm>
                        <a:off x="2966375" y="3303084"/>
                        <a:ext cx="0" cy="945348"/>
                      </a:xfrm>
                      <a:prstGeom prst="line">
                        <a:avLst/>
                      </a:prstGeom>
                      <a:ln w="889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40" name="Picture 8" descr="TileBoard - New dashboard for Homeassistant - Page 159 - Dashboards &amp;  Frontend - Home Assistant Community">
                      <a:extLst>
                        <a:ext uri="{FF2B5EF4-FFF2-40B4-BE49-F238E27FC236}">
                          <a16:creationId xmlns:a16="http://schemas.microsoft.com/office/drawing/2014/main" id="{DDE7D942-9183-B223-8ABC-18E890AD2D0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181121" y="3163127"/>
                      <a:ext cx="648000" cy="6480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6C03535B-E8E6-3F53-972A-AE39CDAFD438}"/>
                      </a:ext>
                    </a:extLst>
                  </p:cNvPr>
                  <p:cNvSpPr txBox="1"/>
                  <p:nvPr/>
                </p:nvSpPr>
                <p:spPr>
                  <a:xfrm>
                    <a:off x="3419688" y="2887837"/>
                    <a:ext cx="938461" cy="4077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1600" b="1" dirty="0">
                        <a:solidFill>
                          <a:srgbClr val="FF45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Inlet</a:t>
                    </a:r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42823E7C-F3A3-6AC8-6B26-DF832DCCA377}"/>
                      </a:ext>
                    </a:extLst>
                  </p:cNvPr>
                  <p:cNvSpPr txBox="1"/>
                  <p:nvPr/>
                </p:nvSpPr>
                <p:spPr>
                  <a:xfrm>
                    <a:off x="1948413" y="2887837"/>
                    <a:ext cx="979081" cy="4077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1600" b="1" dirty="0">
                        <a:solidFill>
                          <a:srgbClr val="FF45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Outlet</a:t>
                    </a:r>
                  </a:p>
                </p:txBody>
              </p:sp>
            </p:grpSp>
          </p:grp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7572BF04-B1F5-4759-950D-C7E326B0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92943" y="1674501"/>
                <a:ext cx="3105424" cy="19971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Correlation validated between exposed and enclosed sensors (custom IP65 housing).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Optimized air channel and negative pressure for accurate sampling.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Balanced air-exchange rate for reliable readings.</a:t>
                </a:r>
              </a:p>
            </p:txBody>
          </p:sp>
        </p:grpSp>
      </p:grpSp>
      <p:grpSp>
        <p:nvGrpSpPr>
          <p:cNvPr id="4096" name="Group 4095">
            <a:extLst>
              <a:ext uri="{FF2B5EF4-FFF2-40B4-BE49-F238E27FC236}">
                <a16:creationId xmlns:a16="http://schemas.microsoft.com/office/drawing/2014/main" id="{FA5938B7-E57B-820B-BFC5-63044C3CE5DC}"/>
              </a:ext>
            </a:extLst>
          </p:cNvPr>
          <p:cNvGrpSpPr/>
          <p:nvPr/>
        </p:nvGrpSpPr>
        <p:grpSpPr>
          <a:xfrm>
            <a:off x="6355533" y="4317404"/>
            <a:ext cx="5417387" cy="1453481"/>
            <a:chOff x="6242550" y="4278478"/>
            <a:chExt cx="5417387" cy="145348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BF75C93-AB0D-89B0-900B-C740F43AAA4A}"/>
                </a:ext>
              </a:extLst>
            </p:cNvPr>
            <p:cNvGrpSpPr/>
            <p:nvPr/>
          </p:nvGrpSpPr>
          <p:grpSpPr>
            <a:xfrm>
              <a:off x="6242550" y="4278478"/>
              <a:ext cx="2280118" cy="1453481"/>
              <a:chOff x="6707818" y="859220"/>
              <a:chExt cx="2280118" cy="1453481"/>
            </a:xfrm>
          </p:grpSpPr>
          <p:pic>
            <p:nvPicPr>
              <p:cNvPr id="57" name="Picture 12" descr="Micro SD Card Back PNG Clipart - High-quality PNG Clipart Image in cattegory Computer Parts PNG / Clipart from ClipartPNG.com">
                <a:extLst>
                  <a:ext uri="{FF2B5EF4-FFF2-40B4-BE49-F238E27FC236}">
                    <a16:creationId xmlns:a16="http://schemas.microsoft.com/office/drawing/2014/main" id="{533DFCA1-6C27-C754-0D6D-77AF9CE5A6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05880" y="1679992"/>
                <a:ext cx="403860" cy="5487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31F2660C-C6F7-FE1F-A5B5-D8B0E335F00D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6103446" y="1463593"/>
                <a:ext cx="1453480" cy="244735"/>
              </a:xfrm>
              <a:prstGeom prst="roundRect">
                <a:avLst/>
              </a:prstGeom>
              <a:solidFill>
                <a:srgbClr val="FF4500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b="1" kern="1200">
                    <a:solidFill>
                      <a:srgbClr val="FF45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400" dirty="0">
                    <a:solidFill>
                      <a:schemeClr val="bg1"/>
                    </a:solidFill>
                  </a:rPr>
                  <a:t>Data Handling</a:t>
                </a:r>
                <a:endParaRPr lang="en-IN" sz="14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Picture 4" descr="Free Synchronization Animations | Download in GIF, MP4, and Lottie JSON">
                <a:extLst>
                  <a:ext uri="{FF2B5EF4-FFF2-40B4-BE49-F238E27FC236}">
                    <a16:creationId xmlns:a16="http://schemas.microsoft.com/office/drawing/2014/main" id="{6E22B0E5-C3F2-ED8C-C9CF-94C667A548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6" t="25371" r="11183" b="26154"/>
              <a:stretch>
                <a:fillRect/>
              </a:stretch>
            </p:blipFill>
            <p:spPr bwMode="auto">
              <a:xfrm>
                <a:off x="8114067" y="1679992"/>
                <a:ext cx="873869" cy="56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2" descr="InfluxDB Driver for Tridium Niagara N4 | NiagaraMarketplace">
                <a:extLst>
                  <a:ext uri="{FF2B5EF4-FFF2-40B4-BE49-F238E27FC236}">
                    <a16:creationId xmlns:a16="http://schemas.microsoft.com/office/drawing/2014/main" id="{C16FF15E-961D-C716-DABC-5970742A7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6434" y="859220"/>
                <a:ext cx="629142" cy="6291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9D25C4-EEE5-9B3C-4C57-77C98A0DD718}"/>
                </a:ext>
              </a:extLst>
            </p:cNvPr>
            <p:cNvSpPr txBox="1"/>
            <p:nvPr/>
          </p:nvSpPr>
          <p:spPr>
            <a:xfrm>
              <a:off x="8773843" y="4341761"/>
              <a:ext cx="28860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dirty="0"/>
                <a:t>Edge Storage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dirty="0"/>
                <a:t>Sequential Database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dirty="0"/>
                <a:t>Sync Feature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dirty="0"/>
                <a:t>Hourly Backup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dirty="0"/>
                <a:t>Fail-Safe Mechanism: Ensures data security and integrity</a:t>
              </a:r>
            </a:p>
          </p:txBody>
        </p:sp>
      </p:grpSp>
      <p:grpSp>
        <p:nvGrpSpPr>
          <p:cNvPr id="4115" name="Group 4114">
            <a:extLst>
              <a:ext uri="{FF2B5EF4-FFF2-40B4-BE49-F238E27FC236}">
                <a16:creationId xmlns:a16="http://schemas.microsoft.com/office/drawing/2014/main" id="{D248F2DF-0058-B8F0-C560-970F0C7CC579}"/>
              </a:ext>
            </a:extLst>
          </p:cNvPr>
          <p:cNvGrpSpPr/>
          <p:nvPr/>
        </p:nvGrpSpPr>
        <p:grpSpPr>
          <a:xfrm>
            <a:off x="260630" y="4320068"/>
            <a:ext cx="5549686" cy="1536118"/>
            <a:chOff x="402451" y="4473272"/>
            <a:chExt cx="5549686" cy="15361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A505480-F832-65EC-D49B-395139DBCA5A}"/>
                </a:ext>
              </a:extLst>
            </p:cNvPr>
            <p:cNvGrpSpPr/>
            <p:nvPr/>
          </p:nvGrpSpPr>
          <p:grpSpPr>
            <a:xfrm>
              <a:off x="402451" y="4473272"/>
              <a:ext cx="5549686" cy="1450818"/>
              <a:chOff x="476024" y="4233547"/>
              <a:chExt cx="7273614" cy="1450818"/>
            </a:xfrm>
          </p:grpSpPr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4BEE709A-15A3-059F-6537-73755A1B31C1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-85833" y="4795404"/>
                <a:ext cx="1450818" cy="327104"/>
              </a:xfrm>
              <a:prstGeom prst="roundRect">
                <a:avLst/>
              </a:prstGeom>
              <a:solidFill>
                <a:srgbClr val="FF4500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b="1" kern="1200">
                    <a:solidFill>
                      <a:srgbClr val="FF45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400" dirty="0">
                    <a:solidFill>
                      <a:schemeClr val="bg1"/>
                    </a:solidFill>
                  </a:rPr>
                  <a:t>Hardware</a:t>
                </a:r>
                <a:endParaRPr lang="en-IN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171E67-24B7-99A3-693F-D1C26E04E604}"/>
                  </a:ext>
                </a:extLst>
              </p:cNvPr>
              <p:cNvSpPr txBox="1"/>
              <p:nvPr/>
            </p:nvSpPr>
            <p:spPr>
              <a:xfrm>
                <a:off x="3604986" y="4294165"/>
                <a:ext cx="414465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1200" b="1" dirty="0"/>
                  <a:t>Sensors:</a:t>
                </a:r>
                <a:r>
                  <a:rPr lang="en-GB" sz="1200" dirty="0"/>
                  <a:t> Multiple types tested; final selection based on stability and accuracy</a:t>
                </a:r>
              </a:p>
              <a:p>
                <a:pPr algn="just"/>
                <a:r>
                  <a:rPr lang="en-GB" sz="1200" b="1" dirty="0"/>
                  <a:t>Microcontroller:</a:t>
                </a:r>
                <a:r>
                  <a:rPr lang="en-GB" sz="1200" dirty="0"/>
                  <a:t> ESP32 (dual cores),  38 GPIO, strong processing</a:t>
                </a:r>
              </a:p>
              <a:p>
                <a:pPr algn="just"/>
                <a:r>
                  <a:rPr lang="en-GB" sz="1200" b="1" dirty="0"/>
                  <a:t>Power Components:</a:t>
                </a:r>
                <a:r>
                  <a:rPr lang="en-GB" sz="1200" dirty="0"/>
                  <a:t> Buck converter and adapters</a:t>
                </a:r>
              </a:p>
            </p:txBody>
          </p:sp>
        </p:grpSp>
        <p:pic>
          <p:nvPicPr>
            <p:cNvPr id="1029" name="Picture 5" descr="ESP32 for IoT: A Complete Guide">
              <a:extLst>
                <a:ext uri="{FF2B5EF4-FFF2-40B4-BE49-F238E27FC236}">
                  <a16:creationId xmlns:a16="http://schemas.microsoft.com/office/drawing/2014/main" id="{78773244-AB6D-4D38-579E-15DA23358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4446" y="5272051"/>
              <a:ext cx="976120" cy="737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 descr="Sensirion SHT45-AD1B-R2">
              <a:extLst>
                <a:ext uri="{FF2B5EF4-FFF2-40B4-BE49-F238E27FC236}">
                  <a16:creationId xmlns:a16="http://schemas.microsoft.com/office/drawing/2014/main" id="{D188EC99-8A10-BCD4-CF67-F88100C33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2506" y="4556056"/>
              <a:ext cx="734176" cy="676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5" name="Picture 11" descr="4 USB Port A5268 Step Down Voltage Regulator 4USB Buck Converter Power  Transformer Supply DC36V 24V 12V 9V to 5V 3A For Hub Phone">
              <a:extLst>
                <a:ext uri="{FF2B5EF4-FFF2-40B4-BE49-F238E27FC236}">
                  <a16:creationId xmlns:a16="http://schemas.microsoft.com/office/drawing/2014/main" id="{BA01EC1C-5EB1-7338-A827-628E43D210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57" t="23155" r="14782" b="25735"/>
            <a:stretch>
              <a:fillRect/>
            </a:stretch>
          </p:blipFill>
          <p:spPr bwMode="auto">
            <a:xfrm>
              <a:off x="783814" y="4605144"/>
              <a:ext cx="900797" cy="6275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3CE08A-706D-3EEC-FC8B-7DE3768F411D}"/>
              </a:ext>
            </a:extLst>
          </p:cNvPr>
          <p:cNvSpPr/>
          <p:nvPr/>
        </p:nvSpPr>
        <p:spPr>
          <a:xfrm>
            <a:off x="133350" y="638175"/>
            <a:ext cx="11858625" cy="3098388"/>
          </a:xfrm>
          <a:prstGeom prst="roundRect">
            <a:avLst>
              <a:gd name="adj" fmla="val 3909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C917B7-C396-DD2C-B7B0-6D83E1B8D811}"/>
              </a:ext>
            </a:extLst>
          </p:cNvPr>
          <p:cNvSpPr/>
          <p:nvPr/>
        </p:nvSpPr>
        <p:spPr>
          <a:xfrm>
            <a:off x="133350" y="4093388"/>
            <a:ext cx="5760000" cy="1974036"/>
          </a:xfrm>
          <a:prstGeom prst="roundRect">
            <a:avLst>
              <a:gd name="adj" fmla="val 3909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8F2AAA-0EE6-02AB-A42A-DBD9B19CD470}"/>
              </a:ext>
            </a:extLst>
          </p:cNvPr>
          <p:cNvSpPr/>
          <p:nvPr/>
        </p:nvSpPr>
        <p:spPr>
          <a:xfrm>
            <a:off x="6231975" y="4093388"/>
            <a:ext cx="5760000" cy="1974036"/>
          </a:xfrm>
          <a:prstGeom prst="roundRect">
            <a:avLst>
              <a:gd name="adj" fmla="val 3909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22C804-119C-2FF3-40FB-2DC93816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74711"/>
          </a:xfrm>
        </p:spPr>
        <p:txBody>
          <a:bodyPr>
            <a:normAutofit/>
          </a:bodyPr>
          <a:lstStyle/>
          <a:p>
            <a:r>
              <a:rPr lang="en-IN" dirty="0"/>
              <a:t>Robustness of the Device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728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03D7-AC3A-219E-E733-7C31A099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17F535-CC5C-4278-58FB-83C573EBD96A}"/>
              </a:ext>
            </a:extLst>
          </p:cNvPr>
          <p:cNvGrpSpPr/>
          <p:nvPr/>
        </p:nvGrpSpPr>
        <p:grpSpPr>
          <a:xfrm>
            <a:off x="158278" y="510425"/>
            <a:ext cx="11815664" cy="2324103"/>
            <a:chOff x="158278" y="466723"/>
            <a:chExt cx="11815664" cy="23241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AFC8FD8-D197-A30A-256A-470758704DF6}"/>
                </a:ext>
              </a:extLst>
            </p:cNvPr>
            <p:cNvGrpSpPr/>
            <p:nvPr/>
          </p:nvGrpSpPr>
          <p:grpSpPr>
            <a:xfrm>
              <a:off x="755485" y="588019"/>
              <a:ext cx="11218457" cy="2079607"/>
              <a:chOff x="-123416" y="3887810"/>
              <a:chExt cx="12766098" cy="2366499"/>
            </a:xfrm>
          </p:grpSpPr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E560F168-C0CF-2A7B-9E79-15BA378FA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3416" y="3971821"/>
                <a:ext cx="4997365" cy="2198480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56" name="Picture 55" descr="A graph showing a line of values&#10;&#10;AI-generated content may be incorrect.">
                <a:extLst>
                  <a:ext uri="{FF2B5EF4-FFF2-40B4-BE49-F238E27FC236}">
                    <a16:creationId xmlns:a16="http://schemas.microsoft.com/office/drawing/2014/main" id="{2885642E-FDEA-51B9-0989-F530F5DFF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34724" y="3887811"/>
                <a:ext cx="3684624" cy="2366498"/>
              </a:xfrm>
              <a:prstGeom prst="rect">
                <a:avLst/>
              </a:pr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179DCDF-9107-97DA-7A66-2D0B8F983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503"/>
              <a:stretch>
                <a:fillRect/>
              </a:stretch>
            </p:blipFill>
            <p:spPr>
              <a:xfrm>
                <a:off x="8880124" y="3887810"/>
                <a:ext cx="3762558" cy="2366499"/>
              </a:xfrm>
              <a:prstGeom prst="rect">
                <a:avLst/>
              </a:prstGeom>
            </p:spPr>
          </p:pic>
        </p:grp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2C534A20-EE20-EE96-CD08-2CEDCE3BB297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849550" y="1474551"/>
              <a:ext cx="2324103" cy="308447"/>
            </a:xfrm>
            <a:prstGeom prst="roundRect">
              <a:avLst/>
            </a:prstGeom>
            <a:solidFill>
              <a:srgbClr val="FF4500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b="1" kern="1200">
                  <a:solidFill>
                    <a:srgbClr val="FF45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GB" sz="1400" dirty="0">
                  <a:solidFill>
                    <a:schemeClr val="bg1"/>
                  </a:solidFill>
                </a:rPr>
                <a:t>DL-based PM Forecasting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6EA84A-F4AF-A534-9FC9-90B326D821E5}"/>
              </a:ext>
            </a:extLst>
          </p:cNvPr>
          <p:cNvGrpSpPr/>
          <p:nvPr/>
        </p:nvGrpSpPr>
        <p:grpSpPr>
          <a:xfrm>
            <a:off x="158278" y="2878228"/>
            <a:ext cx="9682128" cy="3139894"/>
            <a:chOff x="158278" y="2878228"/>
            <a:chExt cx="9682128" cy="313989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6812C49-C4C4-87C9-9E08-6739B47BC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" t="8394" r="2256" b="-1"/>
            <a:stretch>
              <a:fillRect/>
            </a:stretch>
          </p:blipFill>
          <p:spPr>
            <a:xfrm>
              <a:off x="2351593" y="2878228"/>
              <a:ext cx="7488813" cy="3139894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164A54A9-3C9F-8CD6-C3D8-7CB53E42D27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850297" y="4293951"/>
              <a:ext cx="2325600" cy="308449"/>
            </a:xfrm>
            <a:prstGeom prst="roundRect">
              <a:avLst/>
            </a:prstGeom>
            <a:solidFill>
              <a:srgbClr val="FF4500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b="1" kern="1200">
                  <a:solidFill>
                    <a:srgbClr val="FF45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GB" sz="1400" dirty="0">
                  <a:solidFill>
                    <a:schemeClr val="bg1"/>
                  </a:solidFill>
                </a:rPr>
                <a:t>CFD-based Distribution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3A05B9E9-47D2-3AD8-7E0D-26D7A7A4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Turning Data into Insights</a:t>
            </a:r>
          </a:p>
        </p:txBody>
      </p:sp>
    </p:spTree>
    <p:extLst>
      <p:ext uri="{BB962C8B-B14F-4D97-AF65-F5344CB8AC3E}">
        <p14:creationId xmlns:p14="http://schemas.microsoft.com/office/powerpoint/2010/main" val="271515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107B74-17CA-1CF8-9B6C-B37315128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83097"/>
              </p:ext>
            </p:extLst>
          </p:nvPr>
        </p:nvGraphicFramePr>
        <p:xfrm>
          <a:off x="212968" y="1843749"/>
          <a:ext cx="11613664" cy="429288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845312">
                  <a:extLst>
                    <a:ext uri="{9D8B030D-6E8A-4147-A177-3AD203B41FA5}">
                      <a16:colId xmlns:a16="http://schemas.microsoft.com/office/drawing/2014/main" val="1621440525"/>
                    </a:ext>
                  </a:extLst>
                </a:gridCol>
                <a:gridCol w="2098596">
                  <a:extLst>
                    <a:ext uri="{9D8B030D-6E8A-4147-A177-3AD203B41FA5}">
                      <a16:colId xmlns:a16="http://schemas.microsoft.com/office/drawing/2014/main" val="3034658026"/>
                    </a:ext>
                  </a:extLst>
                </a:gridCol>
                <a:gridCol w="2090362">
                  <a:extLst>
                    <a:ext uri="{9D8B030D-6E8A-4147-A177-3AD203B41FA5}">
                      <a16:colId xmlns:a16="http://schemas.microsoft.com/office/drawing/2014/main" val="4029330751"/>
                    </a:ext>
                  </a:extLst>
                </a:gridCol>
                <a:gridCol w="1890383">
                  <a:extLst>
                    <a:ext uri="{9D8B030D-6E8A-4147-A177-3AD203B41FA5}">
                      <a16:colId xmlns:a16="http://schemas.microsoft.com/office/drawing/2014/main" val="2764837450"/>
                    </a:ext>
                  </a:extLst>
                </a:gridCol>
                <a:gridCol w="1533951">
                  <a:extLst>
                    <a:ext uri="{9D8B030D-6E8A-4147-A177-3AD203B41FA5}">
                      <a16:colId xmlns:a16="http://schemas.microsoft.com/office/drawing/2014/main" val="761478964"/>
                    </a:ext>
                  </a:extLst>
                </a:gridCol>
                <a:gridCol w="2155060">
                  <a:extLst>
                    <a:ext uri="{9D8B030D-6E8A-4147-A177-3AD203B41FA5}">
                      <a16:colId xmlns:a16="http://schemas.microsoft.com/office/drawing/2014/main" val="135759494"/>
                    </a:ext>
                  </a:extLst>
                </a:gridCol>
              </a:tblGrid>
              <a:tr h="848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Steam methane reformer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 thermal reformer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Electrolysis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Biomass gasification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Plasma pyrolysis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286887"/>
                  </a:ext>
                </a:extLst>
              </a:tr>
              <a:tr h="3652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Feedstock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gas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gas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+ RE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Biomass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Organic MSW / Biomass etc.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040720"/>
                  </a:ext>
                </a:extLst>
              </a:tr>
              <a:tr h="4311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energy inputs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 + steam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 + steam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47- 66 kWh/kg H₂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Biomass +</a:t>
                      </a:r>
                    </a:p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O₂/steam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plasma      (1-2 kWh/kg waste)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989699"/>
                  </a:ext>
                </a:extLst>
              </a:tr>
              <a:tr h="3652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emissions    (kg </a:t>
                      </a:r>
                      <a:r>
                        <a:rPr lang="en-IN" sz="1800" b="1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CO₂e</a:t>
                      </a: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/kg H₂)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10-12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2-6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0-2</a:t>
                      </a:r>
                      <a:endParaRPr lang="en-IN" sz="1800" b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-5 to 0</a:t>
                      </a:r>
                      <a:endParaRPr lang="en-IN" sz="1800" b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-1 to 2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064971"/>
                  </a:ext>
                </a:extLst>
              </a:tr>
              <a:tr h="606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 </a:t>
                      </a:r>
                    </a:p>
                    <a:p>
                      <a:pPr algn="ctr">
                        <a:buNone/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(USD/kg H₂)</a:t>
                      </a:r>
                      <a:endParaRPr lang="en-IN" sz="1800" b="1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1-2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2-3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3-6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2.5-5.0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151829"/>
                  </a:ext>
                </a:extLst>
              </a:tr>
              <a:tr h="6069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advantages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Cheapest, mature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existing infra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Zero Scope-1 emissions</a:t>
                      </a:r>
                      <a:endParaRPr lang="en-IN" sz="1800" b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-</a:t>
                      </a:r>
                      <a:r>
                        <a:rPr lang="en-IN" sz="1800" b="0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endParaRPr lang="en-IN" sz="1800" b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disposal + H₂ + Carbon -</a:t>
                      </a:r>
                      <a:r>
                        <a:rPr lang="en-US" sz="1800" b="0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potential</a:t>
                      </a:r>
                    </a:p>
                  </a:txBody>
                  <a:tcPr marL="91136" marR="37910" marT="70105" marB="701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61769"/>
                  </a:ext>
                </a:extLst>
              </a:tr>
            </a:tbl>
          </a:graphicData>
        </a:graphic>
      </p:graphicFrame>
      <p:pic>
        <p:nvPicPr>
          <p:cNvPr id="1026" name="Picture 2" descr="Steam Reforming Biotreater Vector Icon Design Stock Vector (Royalty Free)  2128983494 | Shutterstock">
            <a:extLst>
              <a:ext uri="{FF2B5EF4-FFF2-40B4-BE49-F238E27FC236}">
                <a16:creationId xmlns:a16="http://schemas.microsoft.com/office/drawing/2014/main" id="{18BD544E-5D02-17ED-C2B7-F592660117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7"/>
          <a:stretch>
            <a:fillRect/>
          </a:stretch>
        </p:blipFill>
        <p:spPr bwMode="auto">
          <a:xfrm>
            <a:off x="2517975" y="968630"/>
            <a:ext cx="1273738" cy="85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F15B79-8C1C-04A4-65C8-41BDCF9F3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87" t="7734" r="36972" b="5600"/>
          <a:stretch>
            <a:fillRect/>
          </a:stretch>
        </p:blipFill>
        <p:spPr>
          <a:xfrm>
            <a:off x="4916425" y="854128"/>
            <a:ext cx="566927" cy="97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0B036A-DC8E-CD7D-DF07-98FFB7038A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037" t="12095" r="23185" b="17451"/>
          <a:stretch>
            <a:fillRect/>
          </a:stretch>
        </p:blipFill>
        <p:spPr>
          <a:xfrm>
            <a:off x="6790945" y="858902"/>
            <a:ext cx="696880" cy="984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3FA229-2D27-5F66-DF19-1C023A1334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703" t="10320" r="19564" b="9467"/>
          <a:stretch>
            <a:fillRect/>
          </a:stretch>
        </p:blipFill>
        <p:spPr>
          <a:xfrm>
            <a:off x="8546591" y="895925"/>
            <a:ext cx="694943" cy="933209"/>
          </a:xfrm>
          <a:prstGeom prst="rect">
            <a:avLst/>
          </a:prstGeom>
        </p:spPr>
      </p:pic>
      <p:pic>
        <p:nvPicPr>
          <p:cNvPr id="15" name="Picture 2" descr="Electrical Arcs, Electricity, Sphere ...">
            <a:extLst>
              <a:ext uri="{FF2B5EF4-FFF2-40B4-BE49-F238E27FC236}">
                <a16:creationId xmlns:a16="http://schemas.microsoft.com/office/drawing/2014/main" id="{E879B4AD-C99F-9968-569F-5AE7D34E03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84" b="18327"/>
          <a:stretch>
            <a:fillRect/>
          </a:stretch>
        </p:blipFill>
        <p:spPr bwMode="auto">
          <a:xfrm>
            <a:off x="10133091" y="1104577"/>
            <a:ext cx="1184133" cy="72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E5A35D-7599-365A-B873-5BF052A4AD89}"/>
              </a:ext>
            </a:extLst>
          </p:cNvPr>
          <p:cNvSpPr txBox="1"/>
          <p:nvPr/>
        </p:nvSpPr>
        <p:spPr>
          <a:xfrm>
            <a:off x="212968" y="6090328"/>
            <a:ext cx="22685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NG: Natural Gas, RE: Renewable Electricity</a:t>
            </a:r>
            <a:endParaRPr lang="en-IN" sz="900" i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E7961-7DFF-058A-8409-1B66C19BB1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47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45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 dirty="0"/>
              <a:t>Hydrogen Production Pathways</a:t>
            </a:r>
          </a:p>
        </p:txBody>
      </p:sp>
    </p:spTree>
    <p:extLst>
      <p:ext uri="{BB962C8B-B14F-4D97-AF65-F5344CB8AC3E}">
        <p14:creationId xmlns:p14="http://schemas.microsoft.com/office/powerpoint/2010/main" val="38772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BF28F-3A6C-9598-99AF-981CF4E10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168" y="1613764"/>
            <a:ext cx="4755426" cy="334043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Plasma pyrolysis achieves high-efficiency waste-to-syngas conversion (~80-85%) via ultra-high-temperature molecular dissociation.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Plasma arcs ~3,000 °C enable rapid dissociation, ~10× shorter residence times, and tar-free syngas.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Oxygen-deficient, high-temperature conditions ensure effective destruction of dioxins and furans.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45E18-5005-28C3-B5D3-2414E702C3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49076" y="1383509"/>
            <a:ext cx="6468601" cy="3647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E946B-AE24-F666-0AE3-A9ED41966504}"/>
              </a:ext>
            </a:extLst>
          </p:cNvPr>
          <p:cNvSpPr txBox="1"/>
          <p:nvPr/>
        </p:nvSpPr>
        <p:spPr>
          <a:xfrm>
            <a:off x="1246803" y="5663779"/>
            <a:ext cx="9698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has been approved by the Central Pollution Control Board (CPCB) and the Ministry of Environment, Forest and Climate Change of India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CC), and has been included in the Gazette of India on 28th March 2016.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5DF9A-9732-0BF4-6030-83B3D725D855}"/>
              </a:ext>
            </a:extLst>
          </p:cNvPr>
          <p:cNvSpPr txBox="1"/>
          <p:nvPr/>
        </p:nvSpPr>
        <p:spPr>
          <a:xfrm>
            <a:off x="6678756" y="5030949"/>
            <a:ext cx="4009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Plasma Pyrolysis Process for Waste Treatment</a:t>
            </a:r>
            <a:endParaRPr lang="en-IN" sz="16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2F353-1FB0-3F24-DEEA-7CCBD595333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47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45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 dirty="0"/>
              <a:t>Plasma Pyrolysis from Waste to Hydrogen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873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746A0-D8CD-D9DB-8564-9C8BBC85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" y="522022"/>
            <a:ext cx="3840872" cy="2668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11402C-DBE6-F6D3-B0B2-EAA79BE205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11" y="584940"/>
            <a:ext cx="6338289" cy="254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5740C38-FE6C-B62A-278B-F9119587435A}"/>
              </a:ext>
            </a:extLst>
          </p:cNvPr>
          <p:cNvSpPr/>
          <p:nvPr/>
        </p:nvSpPr>
        <p:spPr>
          <a:xfrm>
            <a:off x="3850962" y="1463040"/>
            <a:ext cx="1554158" cy="27432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0302E7-34B7-C1A2-86CF-76413B298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34439"/>
            <a:ext cx="6669465" cy="31316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A472F7-82F1-3785-1740-351EBDF0C3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 t="5865" b="12316"/>
          <a:stretch>
            <a:fillRect/>
          </a:stretch>
        </p:blipFill>
        <p:spPr bwMode="auto">
          <a:xfrm>
            <a:off x="6669465" y="3429000"/>
            <a:ext cx="5522535" cy="27708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01037AD-5496-05A7-F7AF-2241F509E1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471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45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Intelligent Embedded System To Manage Indoor Environment and Energy Consumption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7099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6230A02-E5BB-81C0-BC7B-74DE2DF3DC41}"/>
              </a:ext>
            </a:extLst>
          </p:cNvPr>
          <p:cNvSpPr txBox="1"/>
          <p:nvPr/>
        </p:nvSpPr>
        <p:spPr>
          <a:xfrm>
            <a:off x="35176" y="718173"/>
            <a:ext cx="3670638" cy="360000"/>
          </a:xfrm>
          <a:prstGeom prst="roundRect">
            <a:avLst/>
          </a:prstGeom>
          <a:solidFill>
            <a:srgbClr val="FF45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Background and Motivation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8337A1-68EC-E46E-C3B9-04E37ADCB2E6}"/>
              </a:ext>
            </a:extLst>
          </p:cNvPr>
          <p:cNvCxnSpPr>
            <a:cxnSpLocks/>
          </p:cNvCxnSpPr>
          <p:nvPr/>
        </p:nvCxnSpPr>
        <p:spPr>
          <a:xfrm flipH="1">
            <a:off x="3722586" y="772278"/>
            <a:ext cx="4365" cy="5504697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F6A885-9099-5F38-6B96-CE329D08A64B}"/>
              </a:ext>
            </a:extLst>
          </p:cNvPr>
          <p:cNvSpPr txBox="1"/>
          <p:nvPr/>
        </p:nvSpPr>
        <p:spPr>
          <a:xfrm>
            <a:off x="3762953" y="718173"/>
            <a:ext cx="4241218" cy="360000"/>
          </a:xfrm>
          <a:prstGeom prst="roundRect">
            <a:avLst/>
          </a:prstGeom>
          <a:solidFill>
            <a:srgbClr val="FF45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Real-world Deployment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FF396-5715-704E-AD19-EEC3EF99FEB8}"/>
              </a:ext>
            </a:extLst>
          </p:cNvPr>
          <p:cNvSpPr txBox="1"/>
          <p:nvPr/>
        </p:nvSpPr>
        <p:spPr>
          <a:xfrm>
            <a:off x="8067161" y="718173"/>
            <a:ext cx="4076340" cy="360000"/>
          </a:xfrm>
          <a:prstGeom prst="roundRect">
            <a:avLst/>
          </a:prstGeom>
          <a:solidFill>
            <a:srgbClr val="FF45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Performance Evaluation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646594-97A4-9AFD-5578-643EA2685503}"/>
              </a:ext>
            </a:extLst>
          </p:cNvPr>
          <p:cNvSpPr txBox="1"/>
          <p:nvPr/>
        </p:nvSpPr>
        <p:spPr>
          <a:xfrm>
            <a:off x="8074628" y="4430512"/>
            <a:ext cx="4099506" cy="360000"/>
          </a:xfrm>
          <a:prstGeom prst="roundRect">
            <a:avLst/>
          </a:prstGeom>
          <a:solidFill>
            <a:srgbClr val="FF45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D098F-617C-7DC7-4BF4-46508D5BBBC0}"/>
              </a:ext>
            </a:extLst>
          </p:cNvPr>
          <p:cNvSpPr txBox="1"/>
          <p:nvPr/>
        </p:nvSpPr>
        <p:spPr>
          <a:xfrm>
            <a:off x="3" y="1147549"/>
            <a:ext cx="3707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871" indent="-108871" algn="just">
              <a:buFont typeface="Arial" panose="020B0604020202020204" pitchFamily="34" charset="0"/>
              <a:buChar char="•"/>
            </a:pPr>
            <a:r>
              <a:rPr lang="en-US" sz="1400" dirty="0"/>
              <a:t>Complex interdependence of pollutant levels, energy use, and thermal comfort.</a:t>
            </a:r>
            <a:endParaRPr lang="en-IN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E622E2-E7A1-54B2-87F8-52424C92566D}"/>
              </a:ext>
            </a:extLst>
          </p:cNvPr>
          <p:cNvSpPr txBox="1"/>
          <p:nvPr/>
        </p:nvSpPr>
        <p:spPr>
          <a:xfrm>
            <a:off x="8039871" y="4985488"/>
            <a:ext cx="27252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Mishra NK, Batra N., and Patel S. Optimizing Pollutant Exposure, Energy Consumption, and Thermal Comfort in a House via Deep Reinforcement Learning Control. Journal of Building Engineering 2025:114074.</a:t>
            </a:r>
          </a:p>
          <a:p>
            <a:pPr algn="just"/>
            <a:r>
              <a:rPr lang="en-US" sz="1000" dirty="0"/>
              <a:t>  </a:t>
            </a:r>
            <a:r>
              <a:rPr lang="en-US" sz="1000" dirty="0">
                <a:hlinkClick r:id="rId2"/>
              </a:rPr>
              <a:t>https://doi.org/10.1016/J.JOBE.2025.114074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E8D537E-7018-C330-F2B4-FB1205C6D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275" y="4901535"/>
            <a:ext cx="1223645" cy="12236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733FAF-42B3-47EF-D95F-3B0F6EDA9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08" y="3283187"/>
            <a:ext cx="3453718" cy="26646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0302E7-34B7-C1A2-86CF-76413B2980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949"/>
          <a:stretch>
            <a:fillRect/>
          </a:stretch>
        </p:blipFill>
        <p:spPr>
          <a:xfrm>
            <a:off x="4384155" y="1685992"/>
            <a:ext cx="3185159" cy="41484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F3DAFF-102E-ACEF-C3C4-11F7EB59AF3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 t="5865" b="12316"/>
          <a:stretch>
            <a:fillRect/>
          </a:stretch>
        </p:blipFill>
        <p:spPr bwMode="auto">
          <a:xfrm>
            <a:off x="8058450" y="1169042"/>
            <a:ext cx="4076340" cy="17996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6ADFC7-E815-0F07-1371-BC8C0E311AE5}"/>
              </a:ext>
            </a:extLst>
          </p:cNvPr>
          <p:cNvSpPr txBox="1"/>
          <p:nvPr/>
        </p:nvSpPr>
        <p:spPr>
          <a:xfrm>
            <a:off x="8057157" y="2968649"/>
            <a:ext cx="41348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871" indent="-108871" algn="just">
              <a:buFont typeface="Arial" panose="020B0604020202020204" pitchFamily="34" charset="0"/>
              <a:buChar char="•"/>
            </a:pPr>
            <a:r>
              <a:rPr lang="en-IN" sz="1400" dirty="0"/>
              <a:t>Agent based control achieved an average reduction of 62 ± 2 % in peak PM concentration.</a:t>
            </a:r>
          </a:p>
          <a:p>
            <a:pPr algn="just"/>
            <a:endParaRPr lang="en-IN" sz="1400" dirty="0"/>
          </a:p>
          <a:p>
            <a:pPr marL="108871" indent="-108871" algn="just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US" sz="1400" dirty="0"/>
              <a:t>Energy consumption decreased from 4.39 ± 0.27 kWh to 1.75 ± 0.31 kWh, corresponding to a reduction of ~60 ± 8%.</a:t>
            </a:r>
            <a:endParaRPr lang="en-IN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49D914-6FEB-0345-9F85-79F5295A2BBE}"/>
              </a:ext>
            </a:extLst>
          </p:cNvPr>
          <p:cNvGrpSpPr/>
          <p:nvPr/>
        </p:nvGrpSpPr>
        <p:grpSpPr>
          <a:xfrm>
            <a:off x="254992" y="1711379"/>
            <a:ext cx="3291414" cy="1490179"/>
            <a:chOff x="-8098514" y="4773352"/>
            <a:chExt cx="9540181" cy="41567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7FEFC26-078D-E9C8-2C1B-42E65C564721}"/>
                </a:ext>
              </a:extLst>
            </p:cNvPr>
            <p:cNvSpPr/>
            <p:nvPr/>
          </p:nvSpPr>
          <p:spPr>
            <a:xfrm>
              <a:off x="-8098514" y="8157434"/>
              <a:ext cx="9540181" cy="772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002060"/>
                  </a:solidFill>
                </a:rPr>
                <a:t>Source: REN Global Status Report, 2024</a:t>
              </a:r>
              <a:endParaRPr lang="en-IN" sz="12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0B2B789-134A-2FF4-7299-04E729DD5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9" t="15756" r="4365" b="18214"/>
            <a:stretch>
              <a:fillRect/>
            </a:stretch>
          </p:blipFill>
          <p:spPr>
            <a:xfrm>
              <a:off x="-7755067" y="4773352"/>
              <a:ext cx="8439958" cy="334557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11EF260-9B36-EF08-5AB0-118D8BCE7D87}"/>
              </a:ext>
            </a:extLst>
          </p:cNvPr>
          <p:cNvSpPr txBox="1"/>
          <p:nvPr/>
        </p:nvSpPr>
        <p:spPr>
          <a:xfrm>
            <a:off x="3792965" y="1152191"/>
            <a:ext cx="4199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871" indent="-108871" algn="just">
              <a:buFont typeface="Arial" panose="020B0604020202020204" pitchFamily="34" charset="0"/>
              <a:buChar char="•"/>
            </a:pPr>
            <a:r>
              <a:rPr lang="en-US" sz="1400" dirty="0"/>
              <a:t>Traditional optimization algorithms constrained by modeling, computational, and learning challenges.</a:t>
            </a:r>
            <a:endParaRPr lang="en-IN" sz="1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9D4C3E-4336-E1BA-DE39-4FC21FD9D10C}"/>
              </a:ext>
            </a:extLst>
          </p:cNvPr>
          <p:cNvCxnSpPr>
            <a:cxnSpLocks/>
          </p:cNvCxnSpPr>
          <p:nvPr/>
        </p:nvCxnSpPr>
        <p:spPr>
          <a:xfrm flipH="1">
            <a:off x="8022087" y="761137"/>
            <a:ext cx="11425" cy="5489457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4D84B9E-8BA2-7943-432A-261E200CE3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471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45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An Energy Efficient Indoor Environment Management System for Sustainable and Healthy Buildings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24C43-CF5D-24D1-F4FA-004DBA0CB338}"/>
              </a:ext>
            </a:extLst>
          </p:cNvPr>
          <p:cNvSpPr txBox="1"/>
          <p:nvPr/>
        </p:nvSpPr>
        <p:spPr>
          <a:xfrm>
            <a:off x="10963275" y="6035150"/>
            <a:ext cx="11715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 Scan to Know More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7590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14019</TotalTime>
  <Words>763</Words>
  <Application>Microsoft Office PowerPoint</Application>
  <PresentationFormat>Widescreen</PresentationFormat>
  <Paragraphs>118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PowerPoint Presentation</vt:lpstr>
      <vt:lpstr>Development and Deployment of an Integrated Low-Cost Environmental Quality Monitor</vt:lpstr>
      <vt:lpstr>Robustness of the Device</vt:lpstr>
      <vt:lpstr>Turning Data into Insights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</dc:creator>
  <cp:lastModifiedBy>Prince Vats 24310046</cp:lastModifiedBy>
  <cp:revision>19</cp:revision>
  <dcterms:created xsi:type="dcterms:W3CDTF">2025-11-10T20:13:25Z</dcterms:created>
  <dcterms:modified xsi:type="dcterms:W3CDTF">2026-09-19T20:15:16Z</dcterms:modified>
</cp:coreProperties>
</file>